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1.xml" ContentType="application/vnd.openxmlformats-officedocument.presentationml.slide+xml"/>
  <Override PartName="/ppt/slides/slide16.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2.xml" ContentType="application/vnd.openxmlformats-officedocument.presentationml.slideLayout+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Calibri" panose="020F0502020204030204" pitchFamily="34" charset="0"/>
      <p:regular r:id="rId20"/>
      <p:bold r:id="rId21"/>
      <p:italic r:id="rId22"/>
      <p:boldItalic r:id="rId23"/>
    </p:embeddedFont>
    <p:embeddedFont>
      <p:font typeface="Raleway Semi-Bold" panose="020B0604020202020204" charset="0"/>
      <p:regular r:id="rId24"/>
    </p:embeddedFont>
    <p:embeddedFont>
      <p:font typeface="Raleway" panose="020B0604020202020204" charset="0"/>
      <p:regular r:id="rId25"/>
    </p:embeddedFont>
    <p:embeddedFont>
      <p:font typeface="Raleway Medium"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5" d="100"/>
          <a:sy n="55" d="100"/>
        </p:scale>
        <p:origin x="658"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21.sv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24.sv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7.sv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30.sv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33.sv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36.sv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39.sv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42.sv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4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sp>
        <p:nvSpPr>
          <p:cNvPr id="2" name="Freeform 2"/>
          <p:cNvSpPr/>
          <p:nvPr/>
        </p:nvSpPr>
        <p:spPr>
          <a:xfrm rot="-10800000">
            <a:off x="-923791" y="-783256"/>
            <a:ext cx="11853512" cy="11853512"/>
          </a:xfrm>
          <a:custGeom>
            <a:avLst/>
            <a:gdLst/>
            <a:ahLst/>
            <a:cxnLst/>
            <a:rect l="l" t="t" r="r" b="b"/>
            <a:pathLst>
              <a:path w="11853512" h="11853512">
                <a:moveTo>
                  <a:pt x="0" y="0"/>
                </a:moveTo>
                <a:lnTo>
                  <a:pt x="11853513" y="0"/>
                </a:lnTo>
                <a:lnTo>
                  <a:pt x="11853513" y="11853512"/>
                </a:lnTo>
                <a:lnTo>
                  <a:pt x="0" y="1185351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1708050" y="2014066"/>
            <a:ext cx="5746778" cy="6258867"/>
          </a:xfrm>
          <a:custGeom>
            <a:avLst/>
            <a:gdLst/>
            <a:ahLst/>
            <a:cxnLst/>
            <a:rect l="l" t="t" r="r" b="b"/>
            <a:pathLst>
              <a:path w="5746778" h="6258867">
                <a:moveTo>
                  <a:pt x="0" y="0"/>
                </a:moveTo>
                <a:lnTo>
                  <a:pt x="5746778" y="0"/>
                </a:lnTo>
                <a:lnTo>
                  <a:pt x="5746778" y="6258868"/>
                </a:lnTo>
                <a:lnTo>
                  <a:pt x="0" y="625886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TextBox 4"/>
          <p:cNvSpPr txBox="1"/>
          <p:nvPr/>
        </p:nvSpPr>
        <p:spPr>
          <a:xfrm>
            <a:off x="1219200" y="2960643"/>
            <a:ext cx="7924800" cy="1327360"/>
          </a:xfrm>
          <a:prstGeom prst="rect">
            <a:avLst/>
          </a:prstGeom>
        </p:spPr>
        <p:txBody>
          <a:bodyPr lIns="0" tIns="0" rIns="0" bIns="0" rtlCol="0" anchor="t">
            <a:spAutoFit/>
          </a:bodyPr>
          <a:lstStyle/>
          <a:p>
            <a:pPr marL="0" lvl="1" indent="0" algn="l">
              <a:lnSpc>
                <a:spcPts val="10838"/>
              </a:lnSpc>
            </a:pPr>
            <a:r>
              <a:rPr lang="en-US" sz="7741" b="1" spc="-356">
                <a:solidFill>
                  <a:srgbClr val="00694C"/>
                </a:solidFill>
                <a:latin typeface="Raleway Medium"/>
                <a:ea typeface="Raleway Medium"/>
                <a:cs typeface="Raleway Medium"/>
                <a:sym typeface="Raleway Medium"/>
              </a:rPr>
              <a:t>Analysis of results</a:t>
            </a:r>
          </a:p>
        </p:txBody>
      </p:sp>
      <p:sp>
        <p:nvSpPr>
          <p:cNvPr id="5" name="TextBox 5"/>
          <p:cNvSpPr txBox="1"/>
          <p:nvPr/>
        </p:nvSpPr>
        <p:spPr>
          <a:xfrm>
            <a:off x="1219200" y="4973872"/>
            <a:ext cx="9179504" cy="4602482"/>
          </a:xfrm>
          <a:prstGeom prst="rect">
            <a:avLst/>
          </a:prstGeom>
        </p:spPr>
        <p:txBody>
          <a:bodyPr lIns="0" tIns="0" rIns="0" bIns="0" rtlCol="0" anchor="t">
            <a:spAutoFit/>
          </a:bodyPr>
          <a:lstStyle/>
          <a:p>
            <a:pPr algn="l">
              <a:lnSpc>
                <a:spcPts val="4230"/>
              </a:lnSpc>
            </a:pPr>
            <a:r>
              <a:rPr lang="en-US" sz="4700" b="1" spc="-216">
                <a:solidFill>
                  <a:srgbClr val="00694C"/>
                </a:solidFill>
                <a:latin typeface="Raleway Medium"/>
                <a:ea typeface="Raleway Medium"/>
                <a:cs typeface="Raleway Medium"/>
                <a:sym typeface="Raleway Medium"/>
              </a:rPr>
              <a:t>Questionnaire on road cross safety </a:t>
            </a:r>
          </a:p>
          <a:p>
            <a:pPr algn="l">
              <a:lnSpc>
                <a:spcPts val="4230"/>
              </a:lnSpc>
            </a:pPr>
            <a:endParaRPr lang="en-US" sz="4700" b="1" spc="-216">
              <a:solidFill>
                <a:srgbClr val="00694C"/>
              </a:solidFill>
              <a:latin typeface="Raleway Medium"/>
              <a:ea typeface="Raleway Medium"/>
              <a:cs typeface="Raleway Medium"/>
              <a:sym typeface="Raleway Medium"/>
            </a:endParaRPr>
          </a:p>
          <a:p>
            <a:pPr algn="l">
              <a:lnSpc>
                <a:spcPts val="4230"/>
              </a:lnSpc>
            </a:pPr>
            <a:endParaRPr lang="en-US" sz="4700" b="1" spc="-216">
              <a:solidFill>
                <a:srgbClr val="00694C"/>
              </a:solidFill>
              <a:latin typeface="Raleway Medium"/>
              <a:ea typeface="Raleway Medium"/>
              <a:cs typeface="Raleway Medium"/>
              <a:sym typeface="Raleway Medium"/>
            </a:endParaRPr>
          </a:p>
          <a:p>
            <a:pPr algn="l">
              <a:lnSpc>
                <a:spcPts val="4230"/>
              </a:lnSpc>
            </a:pPr>
            <a:endParaRPr lang="en-US" sz="4700" b="1" spc="-216">
              <a:solidFill>
                <a:srgbClr val="00694C"/>
              </a:solidFill>
              <a:latin typeface="Raleway Medium"/>
              <a:ea typeface="Raleway Medium"/>
              <a:cs typeface="Raleway Medium"/>
              <a:sym typeface="Raleway Medium"/>
            </a:endParaRPr>
          </a:p>
          <a:p>
            <a:pPr algn="l">
              <a:lnSpc>
                <a:spcPts val="4230"/>
              </a:lnSpc>
            </a:pPr>
            <a:endParaRPr lang="en-US" sz="4700" b="1" spc="-216">
              <a:solidFill>
                <a:srgbClr val="00694C"/>
              </a:solidFill>
              <a:latin typeface="Raleway Medium"/>
              <a:ea typeface="Raleway Medium"/>
              <a:cs typeface="Raleway Medium"/>
              <a:sym typeface="Raleway Medium"/>
            </a:endParaRPr>
          </a:p>
          <a:p>
            <a:pPr algn="l">
              <a:lnSpc>
                <a:spcPts val="3060"/>
              </a:lnSpc>
            </a:pPr>
            <a:endParaRPr lang="en-US" sz="4700" b="1" spc="-216">
              <a:solidFill>
                <a:srgbClr val="00694C"/>
              </a:solidFill>
              <a:latin typeface="Raleway Medium"/>
              <a:ea typeface="Raleway Medium"/>
              <a:cs typeface="Raleway Medium"/>
              <a:sym typeface="Raleway Medium"/>
            </a:endParaRPr>
          </a:p>
          <a:p>
            <a:pPr algn="l">
              <a:lnSpc>
                <a:spcPts val="3060"/>
              </a:lnSpc>
            </a:pPr>
            <a:endParaRPr lang="en-US" sz="4700" b="1" spc="-216">
              <a:solidFill>
                <a:srgbClr val="00694C"/>
              </a:solidFill>
              <a:latin typeface="Raleway Medium"/>
              <a:ea typeface="Raleway Medium"/>
              <a:cs typeface="Raleway Medium"/>
              <a:sym typeface="Raleway Medium"/>
            </a:endParaRPr>
          </a:p>
          <a:p>
            <a:pPr algn="l">
              <a:lnSpc>
                <a:spcPts val="3060"/>
              </a:lnSpc>
            </a:pPr>
            <a:endParaRPr lang="en-US" sz="4700" b="1" spc="-216">
              <a:solidFill>
                <a:srgbClr val="00694C"/>
              </a:solidFill>
              <a:latin typeface="Raleway Medium"/>
              <a:ea typeface="Raleway Medium"/>
              <a:cs typeface="Raleway Medium"/>
              <a:sym typeface="Raleway Medium"/>
            </a:endParaRPr>
          </a:p>
          <a:p>
            <a:pPr algn="l">
              <a:lnSpc>
                <a:spcPts val="3060"/>
              </a:lnSpc>
            </a:pPr>
            <a:endParaRPr lang="en-US" sz="4700" b="1" spc="-216">
              <a:solidFill>
                <a:srgbClr val="00694C"/>
              </a:solidFill>
              <a:latin typeface="Raleway Medium"/>
              <a:ea typeface="Raleway Medium"/>
              <a:cs typeface="Raleway Medium"/>
              <a:sym typeface="Raleway Medium"/>
            </a:endParaRPr>
          </a:p>
          <a:p>
            <a:pPr marL="0" lvl="1" indent="0" algn="l">
              <a:lnSpc>
                <a:spcPts val="3060"/>
              </a:lnSpc>
            </a:pPr>
            <a:r>
              <a:rPr lang="en-US" sz="3400" b="1" spc="-156">
                <a:solidFill>
                  <a:srgbClr val="00694C"/>
                </a:solidFill>
                <a:latin typeface="Raleway Medium"/>
                <a:ea typeface="Raleway Medium"/>
                <a:cs typeface="Raleway Medium"/>
                <a:sym typeface="Raleway Medium"/>
              </a:rPr>
              <a:t>Trikala. 2024</a:t>
            </a:r>
          </a:p>
        </p:txBody>
      </p:sp>
      <p:sp>
        <p:nvSpPr>
          <p:cNvPr id="6" name="TextBox 6"/>
          <p:cNvSpPr txBox="1"/>
          <p:nvPr/>
        </p:nvSpPr>
        <p:spPr>
          <a:xfrm>
            <a:off x="1219200" y="1269882"/>
            <a:ext cx="9179504" cy="381003"/>
          </a:xfrm>
          <a:prstGeom prst="rect">
            <a:avLst/>
          </a:prstGeom>
        </p:spPr>
        <p:txBody>
          <a:bodyPr lIns="0" tIns="0" rIns="0" bIns="0" rtlCol="0" anchor="t">
            <a:spAutoFit/>
          </a:bodyPr>
          <a:lstStyle/>
          <a:p>
            <a:pPr marL="0" lvl="1" indent="0" algn="l">
              <a:lnSpc>
                <a:spcPts val="2700"/>
              </a:lnSpc>
            </a:pPr>
            <a:r>
              <a:rPr lang="en-US" sz="3000" b="1" spc="-138">
                <a:solidFill>
                  <a:srgbClr val="00694C"/>
                </a:solidFill>
                <a:latin typeface="Raleway Medium"/>
                <a:ea typeface="Raleway Medium"/>
                <a:cs typeface="Raleway Medium"/>
                <a:sym typeface="Raleway Medium"/>
              </a:rPr>
              <a:t>ELABORATOR _Baseline data </a:t>
            </a:r>
          </a:p>
        </p:txBody>
      </p:sp>
      <p:sp>
        <p:nvSpPr>
          <p:cNvPr id="7" name="Freeform 7"/>
          <p:cNvSpPr/>
          <p:nvPr/>
        </p:nvSpPr>
        <p:spPr>
          <a:xfrm>
            <a:off x="15092951" y="279549"/>
            <a:ext cx="2843054" cy="1142735"/>
          </a:xfrm>
          <a:custGeom>
            <a:avLst/>
            <a:gdLst/>
            <a:ahLst/>
            <a:cxnLst/>
            <a:rect l="l" t="t" r="r" b="b"/>
            <a:pathLst>
              <a:path w="2843054" h="1142735">
                <a:moveTo>
                  <a:pt x="0" y="0"/>
                </a:moveTo>
                <a:lnTo>
                  <a:pt x="2843054" y="0"/>
                </a:lnTo>
                <a:lnTo>
                  <a:pt x="2843054" y="1142735"/>
                </a:lnTo>
                <a:lnTo>
                  <a:pt x="0" y="1142735"/>
                </a:lnTo>
                <a:lnTo>
                  <a:pt x="0" y="0"/>
                </a:lnTo>
                <a:close/>
              </a:path>
            </a:pathLst>
          </a:custGeom>
          <a:blipFill>
            <a:blip r:embed="rId6"/>
            <a:stretch>
              <a:fillRect r="-331"/>
            </a:stretch>
          </a:blipFill>
        </p:spPr>
      </p:sp>
      <p:sp>
        <p:nvSpPr>
          <p:cNvPr id="8" name="Freeform 8"/>
          <p:cNvSpPr/>
          <p:nvPr/>
        </p:nvSpPr>
        <p:spPr>
          <a:xfrm>
            <a:off x="14043928" y="9012909"/>
            <a:ext cx="3693086" cy="824789"/>
          </a:xfrm>
          <a:custGeom>
            <a:avLst/>
            <a:gdLst/>
            <a:ahLst/>
            <a:cxnLst/>
            <a:rect l="l" t="t" r="r" b="b"/>
            <a:pathLst>
              <a:path w="3693086" h="824789">
                <a:moveTo>
                  <a:pt x="0" y="0"/>
                </a:moveTo>
                <a:lnTo>
                  <a:pt x="3693086" y="0"/>
                </a:lnTo>
                <a:lnTo>
                  <a:pt x="3693086" y="824789"/>
                </a:lnTo>
                <a:lnTo>
                  <a:pt x="0" y="824789"/>
                </a:lnTo>
                <a:lnTo>
                  <a:pt x="0" y="0"/>
                </a:lnTo>
                <a:close/>
              </a:path>
            </a:pathLst>
          </a:custGeom>
          <a:blipFill>
            <a:blip r:embed="rId7"/>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sp>
        <p:nvSpPr>
          <p:cNvPr id="2" name="Freeform 2"/>
          <p:cNvSpPr/>
          <p:nvPr/>
        </p:nvSpPr>
        <p:spPr>
          <a:xfrm>
            <a:off x="10546079" y="1920197"/>
            <a:ext cx="6270790" cy="6446606"/>
          </a:xfrm>
          <a:custGeom>
            <a:avLst/>
            <a:gdLst/>
            <a:ahLst/>
            <a:cxnLst/>
            <a:rect l="l" t="t" r="r" b="b"/>
            <a:pathLst>
              <a:path w="6270790" h="6446606">
                <a:moveTo>
                  <a:pt x="0" y="0"/>
                </a:moveTo>
                <a:lnTo>
                  <a:pt x="6270790" y="0"/>
                </a:lnTo>
                <a:lnTo>
                  <a:pt x="6270790" y="6446606"/>
                </a:lnTo>
                <a:lnTo>
                  <a:pt x="0" y="644660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
        <p:nvSpPr>
          <p:cNvPr id="3" name="TextBox 3"/>
          <p:cNvSpPr txBox="1"/>
          <p:nvPr/>
        </p:nvSpPr>
        <p:spPr>
          <a:xfrm>
            <a:off x="1028700" y="1599360"/>
            <a:ext cx="9517379" cy="803598"/>
          </a:xfrm>
          <a:prstGeom prst="rect">
            <a:avLst/>
          </a:prstGeom>
        </p:spPr>
        <p:txBody>
          <a:bodyPr lIns="0" tIns="0" rIns="0" bIns="0" rtlCol="0" anchor="t">
            <a:spAutoFit/>
          </a:bodyPr>
          <a:lstStyle/>
          <a:p>
            <a:pPr marL="0" lvl="1" indent="0" algn="l">
              <a:lnSpc>
                <a:spcPts val="5707"/>
              </a:lnSpc>
            </a:pPr>
            <a:r>
              <a:rPr lang="en-US" sz="6341" b="1" spc="-291">
                <a:solidFill>
                  <a:srgbClr val="2F1B6D"/>
                </a:solidFill>
                <a:latin typeface="Raleway Medium"/>
                <a:ea typeface="Raleway Medium"/>
                <a:cs typeface="Raleway Medium"/>
                <a:sym typeface="Raleway Medium"/>
              </a:rPr>
              <a:t>Intervention back ground</a:t>
            </a:r>
          </a:p>
        </p:txBody>
      </p:sp>
      <p:sp>
        <p:nvSpPr>
          <p:cNvPr id="4" name="TextBox 4"/>
          <p:cNvSpPr txBox="1"/>
          <p:nvPr/>
        </p:nvSpPr>
        <p:spPr>
          <a:xfrm>
            <a:off x="1219200" y="3349023"/>
            <a:ext cx="7635008" cy="5477510"/>
          </a:xfrm>
          <a:prstGeom prst="rect">
            <a:avLst/>
          </a:prstGeom>
        </p:spPr>
        <p:txBody>
          <a:bodyPr lIns="0" tIns="0" rIns="0" bIns="0" rtlCol="0" anchor="t">
            <a:spAutoFit/>
          </a:bodyPr>
          <a:lstStyle/>
          <a:p>
            <a:pPr algn="l">
              <a:lnSpc>
                <a:spcPts val="3639"/>
              </a:lnSpc>
            </a:pPr>
            <a:r>
              <a:rPr lang="en-US" sz="2599" b="1">
                <a:solidFill>
                  <a:srgbClr val="2F1B6D"/>
                </a:solidFill>
                <a:latin typeface="Raleway Semi-Bold"/>
                <a:ea typeface="Raleway Semi-Bold"/>
                <a:cs typeface="Raleway Semi-Bold"/>
                <a:sym typeface="Raleway Semi-Bold"/>
              </a:rPr>
              <a:t>This survey was dedicated to evaluate the existing situation of a specific area of the city in terms of pedestrian and cyclists safety. </a:t>
            </a:r>
          </a:p>
          <a:p>
            <a:pPr algn="l">
              <a:lnSpc>
                <a:spcPts val="3639"/>
              </a:lnSpc>
            </a:pPr>
            <a:endParaRPr lang="en-US" sz="2599" b="1">
              <a:solidFill>
                <a:srgbClr val="2F1B6D"/>
              </a:solidFill>
              <a:latin typeface="Raleway Semi-Bold"/>
              <a:ea typeface="Raleway Semi-Bold"/>
              <a:cs typeface="Raleway Semi-Bold"/>
              <a:sym typeface="Raleway Semi-Bold"/>
            </a:endParaRPr>
          </a:p>
          <a:p>
            <a:pPr algn="l">
              <a:lnSpc>
                <a:spcPts val="3639"/>
              </a:lnSpc>
            </a:pPr>
            <a:r>
              <a:rPr lang="en-US" sz="2599" b="1">
                <a:solidFill>
                  <a:srgbClr val="2F1B6D"/>
                </a:solidFill>
                <a:latin typeface="Raleway Semi-Bold"/>
                <a:ea typeface="Raleway Semi-Bold"/>
                <a:cs typeface="Raleway Semi-Bold"/>
                <a:sym typeface="Raleway Semi-Bold"/>
              </a:rPr>
              <a:t>The suggested intervention will be the installation of one smart crossing in the specific area to raise  awareness to the drivers that there is a school nearby and integrate smart infrastructure and road safety measures.</a:t>
            </a:r>
          </a:p>
          <a:p>
            <a:pPr algn="l">
              <a:lnSpc>
                <a:spcPts val="3639"/>
              </a:lnSpc>
            </a:pPr>
            <a:endParaRPr lang="en-US" sz="2599" b="1">
              <a:solidFill>
                <a:srgbClr val="2F1B6D"/>
              </a:solidFill>
              <a:latin typeface="Raleway Semi-Bold"/>
              <a:ea typeface="Raleway Semi-Bold"/>
              <a:cs typeface="Raleway Semi-Bold"/>
              <a:sym typeface="Raleway Semi-Bold"/>
            </a:endParaRPr>
          </a:p>
          <a:p>
            <a:pPr algn="l">
              <a:lnSpc>
                <a:spcPts val="3639"/>
              </a:lnSpc>
              <a:spcBef>
                <a:spcPct val="0"/>
              </a:spcBef>
            </a:pPr>
            <a:r>
              <a:rPr lang="en-US" sz="2599" b="1">
                <a:solidFill>
                  <a:srgbClr val="2F1B6D"/>
                </a:solidFill>
                <a:latin typeface="Raleway Semi-Bold"/>
                <a:ea typeface="Raleway Semi-Bold"/>
                <a:cs typeface="Raleway Semi-Bold"/>
                <a:sym typeface="Raleway Semi-Bold"/>
              </a:rPr>
              <a:t>The area of intervention is located near, a stadium, a primary school and a Military School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sp>
        <p:nvSpPr>
          <p:cNvPr id="2" name="Freeform 2"/>
          <p:cNvSpPr/>
          <p:nvPr/>
        </p:nvSpPr>
        <p:spPr>
          <a:xfrm>
            <a:off x="11614152" y="2728258"/>
            <a:ext cx="6356958" cy="6356958"/>
          </a:xfrm>
          <a:custGeom>
            <a:avLst/>
            <a:gdLst/>
            <a:ahLst/>
            <a:cxnLst/>
            <a:rect l="l" t="t" r="r" b="b"/>
            <a:pathLst>
              <a:path w="6356958" h="6356958">
                <a:moveTo>
                  <a:pt x="0" y="0"/>
                </a:moveTo>
                <a:lnTo>
                  <a:pt x="6356958" y="0"/>
                </a:lnTo>
                <a:lnTo>
                  <a:pt x="6356958" y="6356958"/>
                </a:lnTo>
                <a:lnTo>
                  <a:pt x="0" y="6356958"/>
                </a:lnTo>
                <a:lnTo>
                  <a:pt x="0" y="0"/>
                </a:lnTo>
                <a:close/>
              </a:path>
            </a:pathLst>
          </a:custGeom>
          <a:blipFill>
            <a:blip r:embed="rId2"/>
            <a:stretch>
              <a:fillRect/>
            </a:stretch>
          </a:blipFill>
        </p:spPr>
      </p:sp>
      <p:sp>
        <p:nvSpPr>
          <p:cNvPr id="3" name="TextBox 3"/>
          <p:cNvSpPr txBox="1"/>
          <p:nvPr/>
        </p:nvSpPr>
        <p:spPr>
          <a:xfrm>
            <a:off x="261241" y="814543"/>
            <a:ext cx="9779565" cy="533090"/>
          </a:xfrm>
          <a:prstGeom prst="rect">
            <a:avLst/>
          </a:prstGeom>
        </p:spPr>
        <p:txBody>
          <a:bodyPr lIns="0" tIns="0" rIns="0" bIns="0" rtlCol="0" anchor="t">
            <a:spAutoFit/>
          </a:bodyPr>
          <a:lstStyle/>
          <a:p>
            <a:pPr marL="0" lvl="1" indent="0" algn="ctr">
              <a:lnSpc>
                <a:spcPts val="3817"/>
              </a:lnSpc>
            </a:pPr>
            <a:r>
              <a:rPr lang="en-US" sz="4241" b="1" spc="-195">
                <a:solidFill>
                  <a:srgbClr val="2F1B6D"/>
                </a:solidFill>
                <a:latin typeface="Raleway Medium"/>
                <a:ea typeface="Raleway Medium"/>
                <a:cs typeface="Raleway Medium"/>
                <a:sym typeface="Raleway Medium"/>
              </a:rPr>
              <a:t>Overview of the evaluation methodology </a:t>
            </a:r>
          </a:p>
        </p:txBody>
      </p:sp>
      <p:sp>
        <p:nvSpPr>
          <p:cNvPr id="4" name="TextBox 4"/>
          <p:cNvSpPr txBox="1"/>
          <p:nvPr/>
        </p:nvSpPr>
        <p:spPr>
          <a:xfrm>
            <a:off x="432761" y="2835635"/>
            <a:ext cx="10703475" cy="5605146"/>
          </a:xfrm>
          <a:prstGeom prst="rect">
            <a:avLst/>
          </a:prstGeom>
        </p:spPr>
        <p:txBody>
          <a:bodyPr lIns="0" tIns="0" rIns="0" bIns="0" rtlCol="0" anchor="t">
            <a:spAutoFit/>
          </a:bodyPr>
          <a:lstStyle/>
          <a:p>
            <a:pPr algn="l">
              <a:lnSpc>
                <a:spcPts val="4479"/>
              </a:lnSpc>
            </a:pPr>
            <a:r>
              <a:rPr lang="en-US" sz="3199" b="1">
                <a:solidFill>
                  <a:srgbClr val="2F1B6D"/>
                </a:solidFill>
                <a:latin typeface="Raleway Semi-Bold"/>
                <a:ea typeface="Raleway Semi-Bold"/>
                <a:cs typeface="Raleway Semi-Bold"/>
                <a:sym typeface="Raleway Semi-Bold"/>
              </a:rPr>
              <a:t>we created short questionnaire which was distributed  via the following channels:</a:t>
            </a:r>
          </a:p>
          <a:p>
            <a:pPr marL="690876" lvl="1" indent="-345438" algn="l">
              <a:lnSpc>
                <a:spcPts val="4479"/>
              </a:lnSpc>
              <a:buFont typeface="Arial"/>
              <a:buChar char="•"/>
            </a:pPr>
            <a:r>
              <a:rPr lang="en-US" sz="3199">
                <a:solidFill>
                  <a:srgbClr val="2F1B6D"/>
                </a:solidFill>
                <a:latin typeface="Raleway"/>
                <a:ea typeface="Raleway"/>
                <a:cs typeface="Raleway"/>
                <a:sym typeface="Raleway"/>
              </a:rPr>
              <a:t>e-trikala social media</a:t>
            </a:r>
          </a:p>
          <a:p>
            <a:pPr marL="690876" lvl="1" indent="-345438" algn="l">
              <a:lnSpc>
                <a:spcPts val="4479"/>
              </a:lnSpc>
              <a:buFont typeface="Arial"/>
              <a:buChar char="•"/>
            </a:pPr>
            <a:r>
              <a:rPr lang="en-US" sz="3199">
                <a:solidFill>
                  <a:srgbClr val="2F1B6D"/>
                </a:solidFill>
                <a:latin typeface="Raleway"/>
                <a:ea typeface="Raleway"/>
                <a:cs typeface="Raleway"/>
                <a:sym typeface="Raleway"/>
              </a:rPr>
              <a:t>the Municipalities official site</a:t>
            </a:r>
          </a:p>
          <a:p>
            <a:pPr marL="690876" lvl="1" indent="-345438" algn="l">
              <a:lnSpc>
                <a:spcPts val="4479"/>
              </a:lnSpc>
              <a:buFont typeface="Arial"/>
              <a:buChar char="•"/>
            </a:pPr>
            <a:r>
              <a:rPr lang="en-US" sz="3199">
                <a:solidFill>
                  <a:srgbClr val="2F1B6D"/>
                </a:solidFill>
                <a:latin typeface="Raleway"/>
                <a:ea typeface="Raleway"/>
                <a:cs typeface="Raleway"/>
                <a:sym typeface="Raleway"/>
              </a:rPr>
              <a:t>the Military School Secretary site</a:t>
            </a:r>
          </a:p>
          <a:p>
            <a:pPr marL="690876" lvl="1" indent="-345438" algn="l">
              <a:lnSpc>
                <a:spcPts val="4479"/>
              </a:lnSpc>
              <a:buFont typeface="Arial"/>
              <a:buChar char="•"/>
            </a:pPr>
            <a:r>
              <a:rPr lang="en-US" sz="3199">
                <a:solidFill>
                  <a:srgbClr val="2F1B6D"/>
                </a:solidFill>
                <a:latin typeface="Raleway"/>
                <a:ea typeface="Raleway"/>
                <a:cs typeface="Raleway"/>
                <a:sym typeface="Raleway"/>
              </a:rPr>
              <a:t>we created QR posters that were distributed in the area </a:t>
            </a:r>
          </a:p>
          <a:p>
            <a:pPr algn="l">
              <a:lnSpc>
                <a:spcPts val="4479"/>
              </a:lnSpc>
            </a:pPr>
            <a:endParaRPr lang="en-US" sz="3199">
              <a:solidFill>
                <a:srgbClr val="2F1B6D"/>
              </a:solidFill>
              <a:latin typeface="Raleway"/>
              <a:ea typeface="Raleway"/>
              <a:cs typeface="Raleway"/>
              <a:sym typeface="Raleway"/>
            </a:endParaRPr>
          </a:p>
          <a:p>
            <a:pPr algn="l">
              <a:lnSpc>
                <a:spcPts val="4479"/>
              </a:lnSpc>
              <a:spcBef>
                <a:spcPct val="0"/>
              </a:spcBef>
            </a:pPr>
            <a:r>
              <a:rPr lang="en-US" sz="3199" b="1">
                <a:solidFill>
                  <a:srgbClr val="2F1B6D"/>
                </a:solidFill>
                <a:latin typeface="Raleway Semi-Bold"/>
                <a:ea typeface="Raleway Semi-Bold"/>
                <a:cs typeface="Raleway Semi-Bold"/>
                <a:sym typeface="Raleway Semi-Bold"/>
              </a:rPr>
              <a:t>The survey was open for 2 weeks and gathered 143 answers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sp>
        <p:nvSpPr>
          <p:cNvPr id="2" name="TextBox 2"/>
          <p:cNvSpPr txBox="1"/>
          <p:nvPr/>
        </p:nvSpPr>
        <p:spPr>
          <a:xfrm>
            <a:off x="3003449" y="3143776"/>
            <a:ext cx="13479174" cy="772795"/>
          </a:xfrm>
          <a:prstGeom prst="rect">
            <a:avLst/>
          </a:prstGeom>
        </p:spPr>
        <p:txBody>
          <a:bodyPr lIns="0" tIns="0" rIns="0" bIns="0" rtlCol="0" anchor="t">
            <a:spAutoFit/>
          </a:bodyPr>
          <a:lstStyle/>
          <a:p>
            <a:pPr algn="l">
              <a:lnSpc>
                <a:spcPts val="3080"/>
              </a:lnSpc>
              <a:spcBef>
                <a:spcPct val="0"/>
              </a:spcBef>
            </a:pPr>
            <a:r>
              <a:rPr lang="en-US" sz="2200" b="1">
                <a:solidFill>
                  <a:srgbClr val="2F1B6D"/>
                </a:solidFill>
                <a:latin typeface="Raleway Semi-Bold"/>
                <a:ea typeface="Raleway Semi-Bold"/>
                <a:cs typeface="Raleway Semi-Bold"/>
                <a:sym typeface="Raleway Semi-Bold"/>
              </a:rPr>
              <a:t>As expected the majority of the participants were 20-21 years old and there was a range of ages from 12-64 years old </a:t>
            </a:r>
          </a:p>
        </p:txBody>
      </p:sp>
      <p:pic>
        <p:nvPicPr>
          <p:cNvPr id="3" name="Picture 3"/>
          <p:cNvPicPr>
            <a:picLocks noChangeAspect="1"/>
          </p:cNvPicPr>
          <p:nvPr/>
        </p:nvPicPr>
        <p:blipFill>
          <a:blip r:embed="rId2"/>
          <a:stretch>
            <a:fillRect/>
          </a:stretch>
        </p:blipFill>
        <p:spPr>
          <a:xfrm>
            <a:off x="10639325" y="3089834"/>
            <a:ext cx="7984366" cy="7862530"/>
          </a:xfrm>
          <a:prstGeom prst="rect">
            <a:avLst/>
          </a:prstGeom>
        </p:spPr>
      </p:pic>
      <p:sp>
        <p:nvSpPr>
          <p:cNvPr id="4" name="Freeform 4"/>
          <p:cNvSpPr/>
          <p:nvPr/>
        </p:nvSpPr>
        <p:spPr>
          <a:xfrm>
            <a:off x="322016" y="6068695"/>
            <a:ext cx="4068508" cy="4114800"/>
          </a:xfrm>
          <a:custGeom>
            <a:avLst/>
            <a:gdLst/>
            <a:ahLst/>
            <a:cxnLst/>
            <a:rect l="l" t="t" r="r" b="b"/>
            <a:pathLst>
              <a:path w="4068508" h="4114800">
                <a:moveTo>
                  <a:pt x="0" y="0"/>
                </a:moveTo>
                <a:lnTo>
                  <a:pt x="4068508" y="0"/>
                </a:lnTo>
                <a:lnTo>
                  <a:pt x="4068508" y="4114800"/>
                </a:lnTo>
                <a:lnTo>
                  <a:pt x="0" y="41148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5" name="TextBox 5"/>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6" name="TextBox 6"/>
          <p:cNvSpPr txBox="1"/>
          <p:nvPr/>
        </p:nvSpPr>
        <p:spPr>
          <a:xfrm>
            <a:off x="1028700" y="3036407"/>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01.</a:t>
            </a:r>
          </a:p>
        </p:txBody>
      </p:sp>
      <p:sp>
        <p:nvSpPr>
          <p:cNvPr id="7" name="TextBox 7"/>
          <p:cNvSpPr txBox="1"/>
          <p:nvPr/>
        </p:nvSpPr>
        <p:spPr>
          <a:xfrm>
            <a:off x="3003449" y="5095875"/>
            <a:ext cx="5944808" cy="772795"/>
          </a:xfrm>
          <a:prstGeom prst="rect">
            <a:avLst/>
          </a:prstGeom>
        </p:spPr>
        <p:txBody>
          <a:bodyPr lIns="0" tIns="0" rIns="0" bIns="0" rtlCol="0" anchor="t">
            <a:spAutoFit/>
          </a:bodyPr>
          <a:lstStyle/>
          <a:p>
            <a:pPr algn="l">
              <a:lnSpc>
                <a:spcPts val="3080"/>
              </a:lnSpc>
              <a:spcBef>
                <a:spcPct val="0"/>
              </a:spcBef>
            </a:pPr>
            <a:r>
              <a:rPr lang="en-US" sz="2200" b="1">
                <a:solidFill>
                  <a:srgbClr val="2F1B6D"/>
                </a:solidFill>
                <a:latin typeface="Raleway Semi-Bold"/>
                <a:ea typeface="Raleway Semi-Bold"/>
                <a:cs typeface="Raleway Semi-Bold"/>
                <a:sym typeface="Raleway Semi-Bold"/>
              </a:rPr>
              <a:t>In relation to the sex of the participants, the majority of the participants were men</a:t>
            </a:r>
          </a:p>
        </p:txBody>
      </p:sp>
      <p:sp>
        <p:nvSpPr>
          <p:cNvPr id="8" name="TextBox 8"/>
          <p:cNvSpPr txBox="1"/>
          <p:nvPr/>
        </p:nvSpPr>
        <p:spPr>
          <a:xfrm>
            <a:off x="1028700" y="4912738"/>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02.</a:t>
            </a:r>
          </a:p>
        </p:txBody>
      </p:sp>
      <p:sp>
        <p:nvSpPr>
          <p:cNvPr id="9" name="TextBox 9"/>
          <p:cNvSpPr txBox="1"/>
          <p:nvPr/>
        </p:nvSpPr>
        <p:spPr>
          <a:xfrm>
            <a:off x="793011" y="1780170"/>
            <a:ext cx="15285189" cy="820738"/>
          </a:xfrm>
          <a:prstGeom prst="rect">
            <a:avLst/>
          </a:prstGeom>
        </p:spPr>
        <p:txBody>
          <a:bodyPr wrap="square" lIns="0" tIns="0" rIns="0" bIns="0" rtlCol="0" anchor="t">
            <a:spAutoFit/>
          </a:bodyPr>
          <a:lstStyle/>
          <a:p>
            <a:pPr algn="l">
              <a:lnSpc>
                <a:spcPts val="6358"/>
              </a:lnSpc>
              <a:spcBef>
                <a:spcPct val="0"/>
              </a:spcBef>
            </a:pPr>
            <a:r>
              <a:rPr lang="en-US" sz="4541" b="1" spc="-208" dirty="0">
                <a:solidFill>
                  <a:srgbClr val="2F1B6D"/>
                </a:solidFill>
                <a:latin typeface="Raleway Medium"/>
                <a:ea typeface="Raleway Medium"/>
                <a:cs typeface="Raleway Medium"/>
                <a:sym typeface="Raleway Medium"/>
              </a:rPr>
              <a:t>The first 3 questions were demographic ones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sp>
        <p:nvSpPr>
          <p:cNvPr id="2" name="TextBox 2"/>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3" name="TextBox 3"/>
          <p:cNvSpPr txBox="1"/>
          <p:nvPr/>
        </p:nvSpPr>
        <p:spPr>
          <a:xfrm>
            <a:off x="3003449" y="3143776"/>
            <a:ext cx="5405663" cy="1163320"/>
          </a:xfrm>
          <a:prstGeom prst="rect">
            <a:avLst/>
          </a:prstGeom>
        </p:spPr>
        <p:txBody>
          <a:bodyPr lIns="0" tIns="0" rIns="0" bIns="0" rtlCol="0" anchor="t">
            <a:spAutoFit/>
          </a:bodyPr>
          <a:lstStyle/>
          <a:p>
            <a:pPr algn="l">
              <a:lnSpc>
                <a:spcPts val="3080"/>
              </a:lnSpc>
              <a:spcBef>
                <a:spcPct val="0"/>
              </a:spcBef>
            </a:pPr>
            <a:r>
              <a:rPr lang="en-US" sz="2200" b="1">
                <a:solidFill>
                  <a:srgbClr val="2F1B6D"/>
                </a:solidFill>
                <a:latin typeface="Raleway Semi-Bold"/>
                <a:ea typeface="Raleway Semi-Bold"/>
                <a:cs typeface="Raleway Semi-Bold"/>
                <a:sym typeface="Raleway Semi-Bold"/>
              </a:rPr>
              <a:t>The participants were asked to choose from a list  in order to identify their role in the area. </a:t>
            </a:r>
          </a:p>
        </p:txBody>
      </p:sp>
      <p:sp>
        <p:nvSpPr>
          <p:cNvPr id="4" name="TextBox 4"/>
          <p:cNvSpPr txBox="1"/>
          <p:nvPr/>
        </p:nvSpPr>
        <p:spPr>
          <a:xfrm>
            <a:off x="1028700" y="3036407"/>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03.</a:t>
            </a:r>
          </a:p>
        </p:txBody>
      </p:sp>
      <p:sp>
        <p:nvSpPr>
          <p:cNvPr id="5" name="TextBox 5"/>
          <p:cNvSpPr txBox="1"/>
          <p:nvPr/>
        </p:nvSpPr>
        <p:spPr>
          <a:xfrm>
            <a:off x="793011" y="1780170"/>
            <a:ext cx="12237189" cy="820738"/>
          </a:xfrm>
          <a:prstGeom prst="rect">
            <a:avLst/>
          </a:prstGeom>
        </p:spPr>
        <p:txBody>
          <a:bodyPr wrap="square" lIns="0" tIns="0" rIns="0" bIns="0" rtlCol="0" anchor="t">
            <a:spAutoFit/>
          </a:bodyPr>
          <a:lstStyle/>
          <a:p>
            <a:pPr algn="l">
              <a:lnSpc>
                <a:spcPts val="6358"/>
              </a:lnSpc>
              <a:spcBef>
                <a:spcPct val="0"/>
              </a:spcBef>
            </a:pPr>
            <a:r>
              <a:rPr lang="en-US" sz="4541" b="1" spc="-208" dirty="0">
                <a:solidFill>
                  <a:srgbClr val="2F1B6D"/>
                </a:solidFill>
                <a:latin typeface="Raleway Medium"/>
                <a:ea typeface="Raleway Medium"/>
                <a:cs typeface="Raleway Medium"/>
                <a:sym typeface="Raleway Medium"/>
              </a:rPr>
              <a:t>The first 3 questions were demographic ones</a:t>
            </a:r>
          </a:p>
        </p:txBody>
      </p:sp>
      <p:pic>
        <p:nvPicPr>
          <p:cNvPr id="6" name="Picture 6"/>
          <p:cNvPicPr>
            <a:picLocks noChangeAspect="1"/>
          </p:cNvPicPr>
          <p:nvPr/>
        </p:nvPicPr>
        <p:blipFill>
          <a:blip r:embed="rId2"/>
          <a:stretch>
            <a:fillRect/>
          </a:stretch>
        </p:blipFill>
        <p:spPr>
          <a:xfrm>
            <a:off x="6595953" y="1451529"/>
            <a:ext cx="12754961" cy="9618964"/>
          </a:xfrm>
          <a:prstGeom prst="rect">
            <a:avLst/>
          </a:prstGeom>
        </p:spPr>
      </p:pic>
      <p:pic>
        <p:nvPicPr>
          <p:cNvPr id="7" name="Picture 7"/>
          <p:cNvPicPr>
            <a:picLocks noChangeAspect="1"/>
          </p:cNvPicPr>
          <p:nvPr/>
        </p:nvPicPr>
        <p:blipFill>
          <a:blip r:embed="rId3"/>
          <a:stretch>
            <a:fillRect/>
          </a:stretch>
        </p:blipFill>
        <p:spPr>
          <a:xfrm>
            <a:off x="257175" y="6621671"/>
            <a:ext cx="9258300" cy="28555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9562453" y="2476020"/>
            <a:ext cx="8792101" cy="8233698"/>
          </a:xfrm>
          <a:prstGeom prst="rect">
            <a:avLst/>
          </a:prstGeom>
        </p:spPr>
      </p:pic>
      <p:sp>
        <p:nvSpPr>
          <p:cNvPr id="3" name="Freeform 3"/>
          <p:cNvSpPr/>
          <p:nvPr/>
        </p:nvSpPr>
        <p:spPr>
          <a:xfrm>
            <a:off x="1699108" y="5638287"/>
            <a:ext cx="5317997" cy="4114800"/>
          </a:xfrm>
          <a:custGeom>
            <a:avLst/>
            <a:gdLst/>
            <a:ahLst/>
            <a:cxnLst/>
            <a:rect l="l" t="t" r="r" b="b"/>
            <a:pathLst>
              <a:path w="5317997" h="4114800">
                <a:moveTo>
                  <a:pt x="0" y="0"/>
                </a:moveTo>
                <a:lnTo>
                  <a:pt x="5317997" y="0"/>
                </a:lnTo>
                <a:lnTo>
                  <a:pt x="5317997" y="4114800"/>
                </a:lnTo>
                <a:lnTo>
                  <a:pt x="0" y="41148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3036407"/>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04.</a:t>
            </a:r>
          </a:p>
        </p:txBody>
      </p:sp>
      <p:sp>
        <p:nvSpPr>
          <p:cNvPr id="6" name="TextBox 6"/>
          <p:cNvSpPr txBox="1"/>
          <p:nvPr/>
        </p:nvSpPr>
        <p:spPr>
          <a:xfrm>
            <a:off x="793011" y="1799220"/>
            <a:ext cx="17398008"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11 questions evaluated the current status of the road crossing and the area in general</a:t>
            </a:r>
          </a:p>
        </p:txBody>
      </p:sp>
      <p:sp>
        <p:nvSpPr>
          <p:cNvPr id="7" name="TextBox 7"/>
          <p:cNvSpPr txBox="1"/>
          <p:nvPr/>
        </p:nvSpPr>
        <p:spPr>
          <a:xfrm>
            <a:off x="1257886" y="4219075"/>
            <a:ext cx="6822457" cy="10572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How  often do you use the specific smart crossing outside the Military School?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6224391" y="1675432"/>
            <a:ext cx="13016999" cy="9216480"/>
          </a:xfrm>
          <a:prstGeom prst="rect">
            <a:avLst/>
          </a:prstGeom>
        </p:spPr>
      </p:pic>
      <p:sp>
        <p:nvSpPr>
          <p:cNvPr id="3" name="Freeform 3"/>
          <p:cNvSpPr/>
          <p:nvPr/>
        </p:nvSpPr>
        <p:spPr>
          <a:xfrm>
            <a:off x="1257886" y="6524464"/>
            <a:ext cx="4570373" cy="3536326"/>
          </a:xfrm>
          <a:custGeom>
            <a:avLst/>
            <a:gdLst/>
            <a:ahLst/>
            <a:cxnLst/>
            <a:rect l="l" t="t" r="r" b="b"/>
            <a:pathLst>
              <a:path w="4570373" h="3536326">
                <a:moveTo>
                  <a:pt x="0" y="0"/>
                </a:moveTo>
                <a:lnTo>
                  <a:pt x="4570374" y="0"/>
                </a:lnTo>
                <a:lnTo>
                  <a:pt x="4570374" y="3536327"/>
                </a:lnTo>
                <a:lnTo>
                  <a:pt x="0" y="353632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3036407"/>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05.</a:t>
            </a:r>
          </a:p>
        </p:txBody>
      </p:sp>
      <p:sp>
        <p:nvSpPr>
          <p:cNvPr id="6" name="TextBox 6"/>
          <p:cNvSpPr txBox="1"/>
          <p:nvPr/>
        </p:nvSpPr>
        <p:spPr>
          <a:xfrm>
            <a:off x="793011" y="1799220"/>
            <a:ext cx="17363629"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11 questions evaluated the current status of the road crossing anf the area in general</a:t>
            </a:r>
          </a:p>
        </p:txBody>
      </p:sp>
      <p:sp>
        <p:nvSpPr>
          <p:cNvPr id="7" name="TextBox 7"/>
          <p:cNvSpPr txBox="1"/>
          <p:nvPr/>
        </p:nvSpPr>
        <p:spPr>
          <a:xfrm>
            <a:off x="1257886" y="4219075"/>
            <a:ext cx="5170387" cy="15906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What is the main reason you are using the smart crossing outside the Military School?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9846865" y="2193957"/>
            <a:ext cx="8124939" cy="8550041"/>
          </a:xfrm>
          <a:prstGeom prst="rect">
            <a:avLst/>
          </a:prstGeom>
        </p:spPr>
      </p:pic>
      <p:sp>
        <p:nvSpPr>
          <p:cNvPr id="3" name="Freeform 3"/>
          <p:cNvSpPr/>
          <p:nvPr/>
        </p:nvSpPr>
        <p:spPr>
          <a:xfrm>
            <a:off x="1577600" y="6938042"/>
            <a:ext cx="4379209" cy="2769850"/>
          </a:xfrm>
          <a:custGeom>
            <a:avLst/>
            <a:gdLst/>
            <a:ahLst/>
            <a:cxnLst/>
            <a:rect l="l" t="t" r="r" b="b"/>
            <a:pathLst>
              <a:path w="4379209" h="2769850">
                <a:moveTo>
                  <a:pt x="0" y="0"/>
                </a:moveTo>
                <a:lnTo>
                  <a:pt x="4379209" y="0"/>
                </a:lnTo>
                <a:lnTo>
                  <a:pt x="4379209" y="2769850"/>
                </a:lnTo>
                <a:lnTo>
                  <a:pt x="0" y="276985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06.</a:t>
            </a:r>
          </a:p>
        </p:txBody>
      </p:sp>
      <p:sp>
        <p:nvSpPr>
          <p:cNvPr id="6" name="TextBox 6"/>
          <p:cNvSpPr txBox="1"/>
          <p:nvPr/>
        </p:nvSpPr>
        <p:spPr>
          <a:xfrm>
            <a:off x="793011" y="1799220"/>
            <a:ext cx="17363629"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11 questions evaluated the current status of the road crossing anf the area in general</a:t>
            </a:r>
          </a:p>
        </p:txBody>
      </p:sp>
      <p:sp>
        <p:nvSpPr>
          <p:cNvPr id="7" name="TextBox 7"/>
          <p:cNvSpPr txBox="1"/>
          <p:nvPr/>
        </p:nvSpPr>
        <p:spPr>
          <a:xfrm>
            <a:off x="1257886" y="4219075"/>
            <a:ext cx="6822457" cy="15906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How  would you characterise the current status of the specific smart crossing outside the Military school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9887079" y="1979632"/>
            <a:ext cx="9024776" cy="9062584"/>
          </a:xfrm>
          <a:prstGeom prst="rect">
            <a:avLst/>
          </a:prstGeom>
        </p:spPr>
      </p:pic>
      <p:sp>
        <p:nvSpPr>
          <p:cNvPr id="3" name="Freeform 3"/>
          <p:cNvSpPr/>
          <p:nvPr/>
        </p:nvSpPr>
        <p:spPr>
          <a:xfrm>
            <a:off x="1568984" y="7001211"/>
            <a:ext cx="3446111" cy="2957390"/>
          </a:xfrm>
          <a:custGeom>
            <a:avLst/>
            <a:gdLst/>
            <a:ahLst/>
            <a:cxnLst/>
            <a:rect l="l" t="t" r="r" b="b"/>
            <a:pathLst>
              <a:path w="3446111" h="2957390">
                <a:moveTo>
                  <a:pt x="0" y="0"/>
                </a:moveTo>
                <a:lnTo>
                  <a:pt x="3446112" y="0"/>
                </a:lnTo>
                <a:lnTo>
                  <a:pt x="3446112" y="2957390"/>
                </a:lnTo>
                <a:lnTo>
                  <a:pt x="0" y="295739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07.</a:t>
            </a:r>
          </a:p>
        </p:txBody>
      </p:sp>
      <p:sp>
        <p:nvSpPr>
          <p:cNvPr id="6" name="TextBox 6"/>
          <p:cNvSpPr txBox="1"/>
          <p:nvPr/>
        </p:nvSpPr>
        <p:spPr>
          <a:xfrm>
            <a:off x="793011" y="1799220"/>
            <a:ext cx="17363629"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11 questions evaluated the current status of the road crossing anf the area in general</a:t>
            </a:r>
          </a:p>
        </p:txBody>
      </p:sp>
      <p:sp>
        <p:nvSpPr>
          <p:cNvPr id="7" name="TextBox 7"/>
          <p:cNvSpPr txBox="1"/>
          <p:nvPr/>
        </p:nvSpPr>
        <p:spPr>
          <a:xfrm>
            <a:off x="1257886" y="4219075"/>
            <a:ext cx="6822457" cy="15906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How  safe to you feel every time you use the specific smart crossing outside the Military school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9388313" y="1854171"/>
            <a:ext cx="8467737" cy="9199450"/>
          </a:xfrm>
          <a:prstGeom prst="rect">
            <a:avLst/>
          </a:prstGeom>
        </p:spPr>
      </p:pic>
      <p:sp>
        <p:nvSpPr>
          <p:cNvPr id="3" name="TextBox 3"/>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4" name="TextBox 4"/>
          <p:cNvSpPr txBox="1"/>
          <p:nvPr/>
        </p:nvSpPr>
        <p:spPr>
          <a:xfrm>
            <a:off x="1028700"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08.</a:t>
            </a:r>
          </a:p>
        </p:txBody>
      </p:sp>
      <p:sp>
        <p:nvSpPr>
          <p:cNvPr id="5" name="TextBox 5"/>
          <p:cNvSpPr txBox="1"/>
          <p:nvPr/>
        </p:nvSpPr>
        <p:spPr>
          <a:xfrm>
            <a:off x="793011" y="1799220"/>
            <a:ext cx="17363629"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11 questions evaluated the current status of the road crossing anf the area in general</a:t>
            </a:r>
          </a:p>
        </p:txBody>
      </p:sp>
      <p:sp>
        <p:nvSpPr>
          <p:cNvPr id="6" name="TextBox 6"/>
          <p:cNvSpPr txBox="1"/>
          <p:nvPr/>
        </p:nvSpPr>
        <p:spPr>
          <a:xfrm>
            <a:off x="1028700" y="4256539"/>
            <a:ext cx="5919779" cy="15906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To your opinion how well maintained is    the specific smart crossing outside the Military school ?</a:t>
            </a:r>
          </a:p>
        </p:txBody>
      </p:sp>
      <p:sp>
        <p:nvSpPr>
          <p:cNvPr id="7" name="Freeform 7"/>
          <p:cNvSpPr/>
          <p:nvPr/>
        </p:nvSpPr>
        <p:spPr>
          <a:xfrm>
            <a:off x="1235193" y="6797459"/>
            <a:ext cx="2940767" cy="2874600"/>
          </a:xfrm>
          <a:custGeom>
            <a:avLst/>
            <a:gdLst/>
            <a:ahLst/>
            <a:cxnLst/>
            <a:rect l="l" t="t" r="r" b="b"/>
            <a:pathLst>
              <a:path w="2940767" h="2874600">
                <a:moveTo>
                  <a:pt x="0" y="0"/>
                </a:moveTo>
                <a:lnTo>
                  <a:pt x="2940767" y="0"/>
                </a:lnTo>
                <a:lnTo>
                  <a:pt x="2940767" y="2874600"/>
                </a:lnTo>
                <a:lnTo>
                  <a:pt x="0" y="28746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9583204" y="2377428"/>
            <a:ext cx="8776374" cy="7944607"/>
          </a:xfrm>
          <a:prstGeom prst="rect">
            <a:avLst/>
          </a:prstGeom>
        </p:spPr>
      </p:pic>
      <p:sp>
        <p:nvSpPr>
          <p:cNvPr id="3" name="Freeform 3"/>
          <p:cNvSpPr/>
          <p:nvPr/>
        </p:nvSpPr>
        <p:spPr>
          <a:xfrm>
            <a:off x="2206498" y="7609962"/>
            <a:ext cx="4401990" cy="2360567"/>
          </a:xfrm>
          <a:custGeom>
            <a:avLst/>
            <a:gdLst/>
            <a:ahLst/>
            <a:cxnLst/>
            <a:rect l="l" t="t" r="r" b="b"/>
            <a:pathLst>
              <a:path w="4401990" h="2360567">
                <a:moveTo>
                  <a:pt x="0" y="0"/>
                </a:moveTo>
                <a:lnTo>
                  <a:pt x="4401991" y="0"/>
                </a:lnTo>
                <a:lnTo>
                  <a:pt x="4401991" y="2360568"/>
                </a:lnTo>
                <a:lnTo>
                  <a:pt x="0" y="236056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09.</a:t>
            </a:r>
          </a:p>
        </p:txBody>
      </p:sp>
      <p:sp>
        <p:nvSpPr>
          <p:cNvPr id="6" name="TextBox 6"/>
          <p:cNvSpPr txBox="1"/>
          <p:nvPr/>
        </p:nvSpPr>
        <p:spPr>
          <a:xfrm>
            <a:off x="793011" y="1799220"/>
            <a:ext cx="17363629"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11 questions evaluated the current status of the road crossing anf the area in general</a:t>
            </a:r>
          </a:p>
        </p:txBody>
      </p:sp>
      <p:sp>
        <p:nvSpPr>
          <p:cNvPr id="7" name="TextBox 7"/>
          <p:cNvSpPr txBox="1"/>
          <p:nvPr/>
        </p:nvSpPr>
        <p:spPr>
          <a:xfrm>
            <a:off x="1257886" y="4219075"/>
            <a:ext cx="6822457" cy="31908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From your personal experience, have you personally encountered or know someone who has encountered a dangerous situation at the crossing (e.g. accidents, dangerous driving by others, etc.)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5494639" y="2602248"/>
            <a:ext cx="13366204" cy="7889125"/>
          </a:xfrm>
          <a:prstGeom prst="rect">
            <a:avLst/>
          </a:prstGeom>
        </p:spPr>
      </p:pic>
      <p:sp>
        <p:nvSpPr>
          <p:cNvPr id="3" name="Freeform 3"/>
          <p:cNvSpPr/>
          <p:nvPr/>
        </p:nvSpPr>
        <p:spPr>
          <a:xfrm>
            <a:off x="1143329" y="7784411"/>
            <a:ext cx="3802786" cy="1311961"/>
          </a:xfrm>
          <a:custGeom>
            <a:avLst/>
            <a:gdLst/>
            <a:ahLst/>
            <a:cxnLst/>
            <a:rect l="l" t="t" r="r" b="b"/>
            <a:pathLst>
              <a:path w="3802786" h="1311961">
                <a:moveTo>
                  <a:pt x="0" y="0"/>
                </a:moveTo>
                <a:lnTo>
                  <a:pt x="3802786" y="0"/>
                </a:lnTo>
                <a:lnTo>
                  <a:pt x="3802786" y="1311962"/>
                </a:lnTo>
                <a:lnTo>
                  <a:pt x="0" y="1311962"/>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793011"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10.</a:t>
            </a:r>
          </a:p>
        </p:txBody>
      </p:sp>
      <p:sp>
        <p:nvSpPr>
          <p:cNvPr id="6" name="TextBox 6"/>
          <p:cNvSpPr txBox="1"/>
          <p:nvPr/>
        </p:nvSpPr>
        <p:spPr>
          <a:xfrm>
            <a:off x="793011" y="1799220"/>
            <a:ext cx="17363629"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11 questions evaluated the current status of the road crossing anf the area in general</a:t>
            </a:r>
          </a:p>
        </p:txBody>
      </p:sp>
      <p:sp>
        <p:nvSpPr>
          <p:cNvPr id="7" name="TextBox 7"/>
          <p:cNvSpPr txBox="1"/>
          <p:nvPr/>
        </p:nvSpPr>
        <p:spPr>
          <a:xfrm>
            <a:off x="793011" y="4056514"/>
            <a:ext cx="5289608" cy="21240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What factors make you feel unsafe when using this particular crossing? (you can choose more than one item)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9530286" y="2084010"/>
            <a:ext cx="8247569" cy="8672384"/>
          </a:xfrm>
          <a:prstGeom prst="rect">
            <a:avLst/>
          </a:prstGeom>
        </p:spPr>
      </p:pic>
      <p:sp>
        <p:nvSpPr>
          <p:cNvPr id="3" name="Freeform 3"/>
          <p:cNvSpPr/>
          <p:nvPr/>
        </p:nvSpPr>
        <p:spPr>
          <a:xfrm>
            <a:off x="1257886" y="7076562"/>
            <a:ext cx="2158597" cy="2767432"/>
          </a:xfrm>
          <a:custGeom>
            <a:avLst/>
            <a:gdLst/>
            <a:ahLst/>
            <a:cxnLst/>
            <a:rect l="l" t="t" r="r" b="b"/>
            <a:pathLst>
              <a:path w="2158597" h="2767432">
                <a:moveTo>
                  <a:pt x="0" y="0"/>
                </a:moveTo>
                <a:lnTo>
                  <a:pt x="2158597" y="0"/>
                </a:lnTo>
                <a:lnTo>
                  <a:pt x="2158597" y="2767432"/>
                </a:lnTo>
                <a:lnTo>
                  <a:pt x="0" y="2767432"/>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11.</a:t>
            </a:r>
          </a:p>
        </p:txBody>
      </p:sp>
      <p:sp>
        <p:nvSpPr>
          <p:cNvPr id="6" name="TextBox 6"/>
          <p:cNvSpPr txBox="1"/>
          <p:nvPr/>
        </p:nvSpPr>
        <p:spPr>
          <a:xfrm>
            <a:off x="793011" y="1799220"/>
            <a:ext cx="17363629"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11 questions evaluated the current status of the road crossing anf the area in general</a:t>
            </a:r>
          </a:p>
        </p:txBody>
      </p:sp>
      <p:sp>
        <p:nvSpPr>
          <p:cNvPr id="7" name="TextBox 7"/>
          <p:cNvSpPr txBox="1"/>
          <p:nvPr/>
        </p:nvSpPr>
        <p:spPr>
          <a:xfrm>
            <a:off x="1257886" y="4219075"/>
            <a:ext cx="6822457" cy="26574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What is your overall impression of the area near the crossing in terms of accessibility? Are there obstacles, e.g. limited access to benches, ramps, crossings, etc.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8265920" y="1459328"/>
            <a:ext cx="10789876" cy="9726829"/>
          </a:xfrm>
          <a:prstGeom prst="rect">
            <a:avLst/>
          </a:prstGeom>
        </p:spPr>
      </p:pic>
      <p:sp>
        <p:nvSpPr>
          <p:cNvPr id="3" name="Freeform 3"/>
          <p:cNvSpPr/>
          <p:nvPr/>
        </p:nvSpPr>
        <p:spPr>
          <a:xfrm>
            <a:off x="1257886" y="6601268"/>
            <a:ext cx="2497404" cy="3166281"/>
          </a:xfrm>
          <a:custGeom>
            <a:avLst/>
            <a:gdLst/>
            <a:ahLst/>
            <a:cxnLst/>
            <a:rect l="l" t="t" r="r" b="b"/>
            <a:pathLst>
              <a:path w="2497404" h="3166281">
                <a:moveTo>
                  <a:pt x="0" y="0"/>
                </a:moveTo>
                <a:lnTo>
                  <a:pt x="2497404" y="0"/>
                </a:lnTo>
                <a:lnTo>
                  <a:pt x="2497404" y="3166281"/>
                </a:lnTo>
                <a:lnTo>
                  <a:pt x="0" y="316628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12.</a:t>
            </a:r>
          </a:p>
        </p:txBody>
      </p:sp>
      <p:sp>
        <p:nvSpPr>
          <p:cNvPr id="6" name="TextBox 6"/>
          <p:cNvSpPr txBox="1"/>
          <p:nvPr/>
        </p:nvSpPr>
        <p:spPr>
          <a:xfrm>
            <a:off x="793011" y="1799220"/>
            <a:ext cx="17363629"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11 questions evaluated the current status of the road crossing anf the area in general</a:t>
            </a:r>
          </a:p>
        </p:txBody>
      </p:sp>
      <p:sp>
        <p:nvSpPr>
          <p:cNvPr id="7" name="TextBox 7"/>
          <p:cNvSpPr txBox="1"/>
          <p:nvPr/>
        </p:nvSpPr>
        <p:spPr>
          <a:xfrm>
            <a:off x="1257886" y="4219075"/>
            <a:ext cx="6822457" cy="15906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How is the area connected to other areas of the city? Is there a good connection to public transport?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8629555" y="1562554"/>
            <a:ext cx="10143240" cy="9398465"/>
          </a:xfrm>
          <a:prstGeom prst="rect">
            <a:avLst/>
          </a:prstGeom>
        </p:spPr>
      </p:pic>
      <p:sp>
        <p:nvSpPr>
          <p:cNvPr id="3" name="Freeform 3"/>
          <p:cNvSpPr/>
          <p:nvPr/>
        </p:nvSpPr>
        <p:spPr>
          <a:xfrm>
            <a:off x="1134121" y="6261787"/>
            <a:ext cx="3986716" cy="3204323"/>
          </a:xfrm>
          <a:custGeom>
            <a:avLst/>
            <a:gdLst/>
            <a:ahLst/>
            <a:cxnLst/>
            <a:rect l="l" t="t" r="r" b="b"/>
            <a:pathLst>
              <a:path w="3986716" h="3204323">
                <a:moveTo>
                  <a:pt x="0" y="0"/>
                </a:moveTo>
                <a:lnTo>
                  <a:pt x="3986716" y="0"/>
                </a:lnTo>
                <a:lnTo>
                  <a:pt x="3986716" y="3204322"/>
                </a:lnTo>
                <a:lnTo>
                  <a:pt x="0" y="3204322"/>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13.</a:t>
            </a:r>
          </a:p>
        </p:txBody>
      </p:sp>
      <p:sp>
        <p:nvSpPr>
          <p:cNvPr id="6" name="TextBox 6"/>
          <p:cNvSpPr txBox="1"/>
          <p:nvPr/>
        </p:nvSpPr>
        <p:spPr>
          <a:xfrm>
            <a:off x="793011" y="1799220"/>
            <a:ext cx="17363629"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11 questions evaluated the current status of the road crossing anf the area in general</a:t>
            </a:r>
          </a:p>
        </p:txBody>
      </p:sp>
      <p:sp>
        <p:nvSpPr>
          <p:cNvPr id="7" name="TextBox 7"/>
          <p:cNvSpPr txBox="1"/>
          <p:nvPr/>
        </p:nvSpPr>
        <p:spPr>
          <a:xfrm>
            <a:off x="1257886" y="4219075"/>
            <a:ext cx="6822457" cy="5238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Are there adequate bike lanes nearby?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9479898" y="1808826"/>
            <a:ext cx="9465536" cy="9084161"/>
          </a:xfrm>
          <a:prstGeom prst="rect">
            <a:avLst/>
          </a:prstGeom>
        </p:spPr>
      </p:pic>
      <p:sp>
        <p:nvSpPr>
          <p:cNvPr id="3" name="Freeform 3"/>
          <p:cNvSpPr/>
          <p:nvPr/>
        </p:nvSpPr>
        <p:spPr>
          <a:xfrm>
            <a:off x="1573713" y="6736496"/>
            <a:ext cx="2882898" cy="2882898"/>
          </a:xfrm>
          <a:custGeom>
            <a:avLst/>
            <a:gdLst/>
            <a:ahLst/>
            <a:cxnLst/>
            <a:rect l="l" t="t" r="r" b="b"/>
            <a:pathLst>
              <a:path w="2882898" h="2882898">
                <a:moveTo>
                  <a:pt x="0" y="0"/>
                </a:moveTo>
                <a:lnTo>
                  <a:pt x="2882898" y="0"/>
                </a:lnTo>
                <a:lnTo>
                  <a:pt x="2882898" y="2882898"/>
                </a:lnTo>
                <a:lnTo>
                  <a:pt x="0" y="288289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793011" y="825225"/>
            <a:ext cx="11630955" cy="845835"/>
          </a:xfrm>
          <a:prstGeom prst="rect">
            <a:avLst/>
          </a:prstGeom>
        </p:spPr>
        <p:txBody>
          <a:bodyPr lIns="0" tIns="0" rIns="0" bIns="0" rtlCol="0" anchor="t">
            <a:spAutoFit/>
          </a:bodyPr>
          <a:lstStyle/>
          <a:p>
            <a:pPr marL="0" lvl="1" indent="0" algn="l">
              <a:lnSpc>
                <a:spcPts val="6030"/>
              </a:lnSpc>
            </a:pPr>
            <a:r>
              <a:rPr lang="en-US" sz="6700" b="1" spc="-308">
                <a:solidFill>
                  <a:srgbClr val="2F1B6D"/>
                </a:solidFill>
                <a:latin typeface="Raleway Medium"/>
                <a:ea typeface="Raleway Medium"/>
                <a:cs typeface="Raleway Medium"/>
                <a:sym typeface="Raleway Medium"/>
              </a:rPr>
              <a:t>Evaluation Results  </a:t>
            </a:r>
          </a:p>
        </p:txBody>
      </p:sp>
      <p:sp>
        <p:nvSpPr>
          <p:cNvPr id="5" name="TextBox 5"/>
          <p:cNvSpPr txBox="1"/>
          <p:nvPr/>
        </p:nvSpPr>
        <p:spPr>
          <a:xfrm>
            <a:off x="1028700" y="2873846"/>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14.</a:t>
            </a:r>
          </a:p>
        </p:txBody>
      </p:sp>
      <p:sp>
        <p:nvSpPr>
          <p:cNvPr id="6" name="TextBox 6"/>
          <p:cNvSpPr txBox="1"/>
          <p:nvPr/>
        </p:nvSpPr>
        <p:spPr>
          <a:xfrm>
            <a:off x="793011" y="1799220"/>
            <a:ext cx="17363629" cy="598376"/>
          </a:xfrm>
          <a:prstGeom prst="rect">
            <a:avLst/>
          </a:prstGeom>
        </p:spPr>
        <p:txBody>
          <a:bodyPr lIns="0" tIns="0" rIns="0" bIns="0" rtlCol="0" anchor="t">
            <a:spAutoFit/>
          </a:bodyPr>
          <a:lstStyle/>
          <a:p>
            <a:pPr algn="l">
              <a:lnSpc>
                <a:spcPts val="4818"/>
              </a:lnSpc>
              <a:spcBef>
                <a:spcPct val="0"/>
              </a:spcBef>
            </a:pPr>
            <a:r>
              <a:rPr lang="en-US" sz="3441" b="1" spc="-158">
                <a:solidFill>
                  <a:srgbClr val="2F1B6D"/>
                </a:solidFill>
                <a:latin typeface="Raleway Medium"/>
                <a:ea typeface="Raleway Medium"/>
                <a:cs typeface="Raleway Medium"/>
                <a:sym typeface="Raleway Medium"/>
              </a:rPr>
              <a:t>The next  11 questions evaluated the current status of the road crossing anf the area in general</a:t>
            </a:r>
          </a:p>
        </p:txBody>
      </p:sp>
      <p:sp>
        <p:nvSpPr>
          <p:cNvPr id="7" name="TextBox 7"/>
          <p:cNvSpPr txBox="1"/>
          <p:nvPr/>
        </p:nvSpPr>
        <p:spPr>
          <a:xfrm>
            <a:off x="1257886" y="4219075"/>
            <a:ext cx="6822457" cy="1057263"/>
          </a:xfrm>
          <a:prstGeom prst="rect">
            <a:avLst/>
          </a:prstGeom>
        </p:spPr>
        <p:txBody>
          <a:bodyPr lIns="0" tIns="0" rIns="0" bIns="0" rtlCol="0" anchor="t">
            <a:spAutoFit/>
          </a:bodyPr>
          <a:lstStyle/>
          <a:p>
            <a:pPr algn="l">
              <a:lnSpc>
                <a:spcPts val="4200"/>
              </a:lnSpc>
              <a:spcBef>
                <a:spcPct val="0"/>
              </a:spcBef>
            </a:pPr>
            <a:r>
              <a:rPr lang="en-US" sz="3000" b="1" spc="-138">
                <a:solidFill>
                  <a:srgbClr val="2F1B6D"/>
                </a:solidFill>
                <a:latin typeface="Raleway Medium"/>
                <a:ea typeface="Raleway Medium"/>
                <a:cs typeface="Raleway Medium"/>
                <a:sym typeface="Raleway Medium"/>
              </a:rPr>
              <a:t>How safe is the road in the area for a biker?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grpSp>
        <p:nvGrpSpPr>
          <p:cNvPr id="2" name="Group 2"/>
          <p:cNvGrpSpPr/>
          <p:nvPr/>
        </p:nvGrpSpPr>
        <p:grpSpPr>
          <a:xfrm>
            <a:off x="5969270" y="3396148"/>
            <a:ext cx="5293498" cy="6784303"/>
            <a:chOff x="0" y="0"/>
            <a:chExt cx="1394172" cy="1786812"/>
          </a:xfrm>
        </p:grpSpPr>
        <p:sp>
          <p:nvSpPr>
            <p:cNvPr id="3" name="Freeform 3"/>
            <p:cNvSpPr/>
            <p:nvPr/>
          </p:nvSpPr>
          <p:spPr>
            <a:xfrm>
              <a:off x="0" y="0"/>
              <a:ext cx="1394172" cy="1786812"/>
            </a:xfrm>
            <a:custGeom>
              <a:avLst/>
              <a:gdLst/>
              <a:ahLst/>
              <a:cxnLst/>
              <a:rect l="l" t="t" r="r" b="b"/>
              <a:pathLst>
                <a:path w="1394172" h="1786812">
                  <a:moveTo>
                    <a:pt x="11700" y="0"/>
                  </a:moveTo>
                  <a:lnTo>
                    <a:pt x="1382472" y="0"/>
                  </a:lnTo>
                  <a:cubicBezTo>
                    <a:pt x="1388934" y="0"/>
                    <a:pt x="1394172" y="5238"/>
                    <a:pt x="1394172" y="11700"/>
                  </a:cubicBezTo>
                  <a:lnTo>
                    <a:pt x="1394172" y="1775112"/>
                  </a:lnTo>
                  <a:cubicBezTo>
                    <a:pt x="1394172" y="1781574"/>
                    <a:pt x="1388934" y="1786812"/>
                    <a:pt x="1382472" y="1786812"/>
                  </a:cubicBezTo>
                  <a:lnTo>
                    <a:pt x="11700" y="1786812"/>
                  </a:lnTo>
                  <a:cubicBezTo>
                    <a:pt x="5238" y="1786812"/>
                    <a:pt x="0" y="1781574"/>
                    <a:pt x="0" y="1775112"/>
                  </a:cubicBezTo>
                  <a:lnTo>
                    <a:pt x="0" y="11700"/>
                  </a:lnTo>
                  <a:cubicBezTo>
                    <a:pt x="0" y="5238"/>
                    <a:pt x="5238" y="0"/>
                    <a:pt x="11700" y="0"/>
                  </a:cubicBezTo>
                  <a:close/>
                </a:path>
              </a:pathLst>
            </a:custGeom>
            <a:solidFill>
              <a:srgbClr val="96C2EF"/>
            </a:solidFill>
          </p:spPr>
        </p:sp>
        <p:sp>
          <p:nvSpPr>
            <p:cNvPr id="4" name="TextBox 4"/>
            <p:cNvSpPr txBox="1"/>
            <p:nvPr/>
          </p:nvSpPr>
          <p:spPr>
            <a:xfrm>
              <a:off x="0" y="-38100"/>
              <a:ext cx="1394172" cy="182491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85766" y="436321"/>
            <a:ext cx="7722430" cy="1337158"/>
          </a:xfrm>
          <a:prstGeom prst="rect">
            <a:avLst/>
          </a:prstGeom>
        </p:spPr>
        <p:txBody>
          <a:bodyPr lIns="0" tIns="0" rIns="0" bIns="0" rtlCol="0" anchor="t">
            <a:spAutoFit/>
          </a:bodyPr>
          <a:lstStyle/>
          <a:p>
            <a:pPr algn="ctr">
              <a:lnSpc>
                <a:spcPts val="5036"/>
              </a:lnSpc>
            </a:pPr>
            <a:r>
              <a:rPr lang="en-US" sz="5596" b="1" spc="-257">
                <a:solidFill>
                  <a:srgbClr val="2F1B6D"/>
                </a:solidFill>
                <a:latin typeface="Raleway Medium"/>
                <a:ea typeface="Raleway Medium"/>
                <a:cs typeface="Raleway Medium"/>
                <a:sym typeface="Raleway Medium"/>
              </a:rPr>
              <a:t>Evaluation Results</a:t>
            </a:r>
          </a:p>
          <a:p>
            <a:pPr marL="0" lvl="1" indent="0" algn="just">
              <a:lnSpc>
                <a:spcPts val="5036"/>
              </a:lnSpc>
            </a:pPr>
            <a:endParaRPr lang="en-US" sz="5596" b="1" spc="-257">
              <a:solidFill>
                <a:srgbClr val="2F1B6D"/>
              </a:solidFill>
              <a:latin typeface="Raleway Medium"/>
              <a:ea typeface="Raleway Medium"/>
              <a:cs typeface="Raleway Medium"/>
              <a:sym typeface="Raleway Medium"/>
            </a:endParaRPr>
          </a:p>
        </p:txBody>
      </p:sp>
      <p:grpSp>
        <p:nvGrpSpPr>
          <p:cNvPr id="6" name="Group 6"/>
          <p:cNvGrpSpPr/>
          <p:nvPr/>
        </p:nvGrpSpPr>
        <p:grpSpPr>
          <a:xfrm>
            <a:off x="429524" y="3396148"/>
            <a:ext cx="5293498" cy="6784303"/>
            <a:chOff x="0" y="0"/>
            <a:chExt cx="1394172" cy="1786812"/>
          </a:xfrm>
        </p:grpSpPr>
        <p:sp>
          <p:nvSpPr>
            <p:cNvPr id="7" name="Freeform 7"/>
            <p:cNvSpPr/>
            <p:nvPr/>
          </p:nvSpPr>
          <p:spPr>
            <a:xfrm>
              <a:off x="0" y="0"/>
              <a:ext cx="1394172" cy="1786812"/>
            </a:xfrm>
            <a:custGeom>
              <a:avLst/>
              <a:gdLst/>
              <a:ahLst/>
              <a:cxnLst/>
              <a:rect l="l" t="t" r="r" b="b"/>
              <a:pathLst>
                <a:path w="1394172" h="1786812">
                  <a:moveTo>
                    <a:pt x="11700" y="0"/>
                  </a:moveTo>
                  <a:lnTo>
                    <a:pt x="1382472" y="0"/>
                  </a:lnTo>
                  <a:cubicBezTo>
                    <a:pt x="1388934" y="0"/>
                    <a:pt x="1394172" y="5238"/>
                    <a:pt x="1394172" y="11700"/>
                  </a:cubicBezTo>
                  <a:lnTo>
                    <a:pt x="1394172" y="1775112"/>
                  </a:lnTo>
                  <a:cubicBezTo>
                    <a:pt x="1394172" y="1781574"/>
                    <a:pt x="1388934" y="1786812"/>
                    <a:pt x="1382472" y="1786812"/>
                  </a:cubicBezTo>
                  <a:lnTo>
                    <a:pt x="11700" y="1786812"/>
                  </a:lnTo>
                  <a:cubicBezTo>
                    <a:pt x="5238" y="1786812"/>
                    <a:pt x="0" y="1781574"/>
                    <a:pt x="0" y="1775112"/>
                  </a:cubicBezTo>
                  <a:lnTo>
                    <a:pt x="0" y="11700"/>
                  </a:lnTo>
                  <a:cubicBezTo>
                    <a:pt x="0" y="5238"/>
                    <a:pt x="5238" y="0"/>
                    <a:pt x="11700" y="0"/>
                  </a:cubicBezTo>
                  <a:close/>
                </a:path>
              </a:pathLst>
            </a:custGeom>
            <a:solidFill>
              <a:srgbClr val="96C2EF"/>
            </a:solidFill>
          </p:spPr>
        </p:sp>
        <p:sp>
          <p:nvSpPr>
            <p:cNvPr id="8" name="TextBox 8"/>
            <p:cNvSpPr txBox="1"/>
            <p:nvPr/>
          </p:nvSpPr>
          <p:spPr>
            <a:xfrm>
              <a:off x="0" y="-38100"/>
              <a:ext cx="1394172" cy="1824912"/>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1872368" y="3396148"/>
            <a:ext cx="5293498" cy="6784303"/>
            <a:chOff x="0" y="0"/>
            <a:chExt cx="1394172" cy="1786812"/>
          </a:xfrm>
        </p:grpSpPr>
        <p:sp>
          <p:nvSpPr>
            <p:cNvPr id="10" name="Freeform 10"/>
            <p:cNvSpPr/>
            <p:nvPr/>
          </p:nvSpPr>
          <p:spPr>
            <a:xfrm>
              <a:off x="0" y="0"/>
              <a:ext cx="1394172" cy="1786812"/>
            </a:xfrm>
            <a:custGeom>
              <a:avLst/>
              <a:gdLst/>
              <a:ahLst/>
              <a:cxnLst/>
              <a:rect l="l" t="t" r="r" b="b"/>
              <a:pathLst>
                <a:path w="1394172" h="1786812">
                  <a:moveTo>
                    <a:pt x="11700" y="0"/>
                  </a:moveTo>
                  <a:lnTo>
                    <a:pt x="1382472" y="0"/>
                  </a:lnTo>
                  <a:cubicBezTo>
                    <a:pt x="1388934" y="0"/>
                    <a:pt x="1394172" y="5238"/>
                    <a:pt x="1394172" y="11700"/>
                  </a:cubicBezTo>
                  <a:lnTo>
                    <a:pt x="1394172" y="1775112"/>
                  </a:lnTo>
                  <a:cubicBezTo>
                    <a:pt x="1394172" y="1781574"/>
                    <a:pt x="1388934" y="1786812"/>
                    <a:pt x="1382472" y="1786812"/>
                  </a:cubicBezTo>
                  <a:lnTo>
                    <a:pt x="11700" y="1786812"/>
                  </a:lnTo>
                  <a:cubicBezTo>
                    <a:pt x="5238" y="1786812"/>
                    <a:pt x="0" y="1781574"/>
                    <a:pt x="0" y="1775112"/>
                  </a:cubicBezTo>
                  <a:lnTo>
                    <a:pt x="0" y="11700"/>
                  </a:lnTo>
                  <a:cubicBezTo>
                    <a:pt x="0" y="5238"/>
                    <a:pt x="5238" y="0"/>
                    <a:pt x="11700" y="0"/>
                  </a:cubicBezTo>
                  <a:close/>
                </a:path>
              </a:pathLst>
            </a:custGeom>
            <a:solidFill>
              <a:srgbClr val="96C2EF"/>
            </a:solidFill>
          </p:spPr>
        </p:sp>
        <p:sp>
          <p:nvSpPr>
            <p:cNvPr id="11" name="TextBox 11"/>
            <p:cNvSpPr txBox="1"/>
            <p:nvPr/>
          </p:nvSpPr>
          <p:spPr>
            <a:xfrm>
              <a:off x="0" y="-38100"/>
              <a:ext cx="1394172" cy="1824912"/>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530779" y="3522035"/>
            <a:ext cx="5192243" cy="5820770"/>
          </a:xfrm>
          <a:prstGeom prst="rect">
            <a:avLst/>
          </a:prstGeom>
        </p:spPr>
        <p:txBody>
          <a:bodyPr lIns="0" tIns="0" rIns="0" bIns="0" rtlCol="0" anchor="t">
            <a:spAutoFit/>
          </a:bodyPr>
          <a:lstStyle/>
          <a:p>
            <a:pPr marL="396352" lvl="1" indent="-198176" algn="l">
              <a:lnSpc>
                <a:spcPts val="2570"/>
              </a:lnSpc>
              <a:buFont typeface="Arial"/>
              <a:buChar char="•"/>
            </a:pPr>
            <a:r>
              <a:rPr lang="en-US" sz="1835">
                <a:solidFill>
                  <a:srgbClr val="2F1B6D"/>
                </a:solidFill>
                <a:latin typeface="Raleway"/>
                <a:ea typeface="Raleway"/>
                <a:cs typeface="Raleway"/>
                <a:sym typeface="Raleway"/>
              </a:rPr>
              <a:t>Create a bicycle path</a:t>
            </a:r>
          </a:p>
          <a:p>
            <a:pPr marL="396352" lvl="1" indent="-198176" algn="l">
              <a:lnSpc>
                <a:spcPts val="2570"/>
              </a:lnSpc>
              <a:buFont typeface="Arial"/>
              <a:buChar char="•"/>
            </a:pPr>
            <a:r>
              <a:rPr lang="en-US" sz="1835">
                <a:solidFill>
                  <a:srgbClr val="2F1B6D"/>
                </a:solidFill>
                <a:latin typeface="Raleway"/>
                <a:ea typeface="Raleway"/>
                <a:cs typeface="Raleway"/>
                <a:sym typeface="Raleway"/>
              </a:rPr>
              <a:t>At one end of the crossing there is no ramp, it is very difficult to go up with a wheelchair. Also, cars don't stop at this crossing because they think it's only for SMY students.</a:t>
            </a:r>
          </a:p>
          <a:p>
            <a:pPr marL="396352" lvl="1" indent="-198176" algn="l">
              <a:lnSpc>
                <a:spcPts val="2570"/>
              </a:lnSpc>
              <a:buFont typeface="Arial"/>
              <a:buChar char="•"/>
            </a:pPr>
            <a:r>
              <a:rPr lang="en-US" sz="1835">
                <a:solidFill>
                  <a:srgbClr val="2F1B6D"/>
                </a:solidFill>
                <a:latin typeface="Raleway"/>
                <a:ea typeface="Raleway"/>
                <a:cs typeface="Raleway"/>
                <a:sym typeface="Raleway"/>
              </a:rPr>
              <a:t>Cycle path, lighting, road hubs</a:t>
            </a:r>
          </a:p>
          <a:p>
            <a:pPr marL="396352" lvl="1" indent="-198176" algn="l">
              <a:lnSpc>
                <a:spcPts val="2570"/>
              </a:lnSpc>
              <a:buFont typeface="Arial"/>
              <a:buChar char="•"/>
            </a:pPr>
            <a:r>
              <a:rPr lang="en-US" sz="1835">
                <a:solidFill>
                  <a:srgbClr val="2F1B6D"/>
                </a:solidFill>
                <a:latin typeface="Raleway"/>
                <a:ea typeface="Raleway"/>
                <a:cs typeface="Raleway"/>
                <a:sym typeface="Raleway"/>
              </a:rPr>
              <a:t>A pedestrian bridge should be built and the road should be shortened.</a:t>
            </a:r>
          </a:p>
          <a:p>
            <a:pPr marL="396352" lvl="1" indent="-198176" algn="l">
              <a:lnSpc>
                <a:spcPts val="2570"/>
              </a:lnSpc>
              <a:buFont typeface="Arial"/>
              <a:buChar char="•"/>
            </a:pPr>
            <a:r>
              <a:rPr lang="en-US" sz="1835">
                <a:solidFill>
                  <a:srgbClr val="2F1B6D"/>
                </a:solidFill>
                <a:latin typeface="Raleway"/>
                <a:ea typeface="Raleway"/>
                <a:cs typeface="Raleway"/>
                <a:sym typeface="Raleway"/>
              </a:rPr>
              <a:t>benches and space for people to meet</a:t>
            </a:r>
          </a:p>
          <a:p>
            <a:pPr marL="396352" lvl="1" indent="-198176" algn="l">
              <a:lnSpc>
                <a:spcPts val="2570"/>
              </a:lnSpc>
              <a:buFont typeface="Arial"/>
              <a:buChar char="•"/>
            </a:pPr>
            <a:r>
              <a:rPr lang="en-US" sz="1835">
                <a:solidFill>
                  <a:srgbClr val="2F1B6D"/>
                </a:solidFill>
                <a:latin typeface="Raleway"/>
                <a:ea typeface="Raleway"/>
                <a:cs typeface="Raleway"/>
                <a:sym typeface="Raleway"/>
              </a:rPr>
              <a:t>Since the point in question is the pedestrian crossing, I believe that such spaces cannot be constructed, except for the placement of flower beds with greenery for the sole purpose of upgrading it from an aesthetic point of view, since it is located at the entrance of the city and with a fairly large traffic flow, in particular during the mornings</a:t>
            </a:r>
          </a:p>
        </p:txBody>
      </p:sp>
      <p:sp>
        <p:nvSpPr>
          <p:cNvPr id="13" name="TextBox 13"/>
          <p:cNvSpPr txBox="1"/>
          <p:nvPr/>
        </p:nvSpPr>
        <p:spPr>
          <a:xfrm>
            <a:off x="6227813" y="3512510"/>
            <a:ext cx="4818425" cy="6333469"/>
          </a:xfrm>
          <a:prstGeom prst="rect">
            <a:avLst/>
          </a:prstGeom>
        </p:spPr>
        <p:txBody>
          <a:bodyPr lIns="0" tIns="0" rIns="0" bIns="0" rtlCol="0" anchor="t">
            <a:spAutoFit/>
          </a:bodyPr>
          <a:lstStyle/>
          <a:p>
            <a:pPr marL="410389" lvl="1" indent="-205195" algn="l">
              <a:lnSpc>
                <a:spcPts val="2661"/>
              </a:lnSpc>
              <a:buFont typeface="Arial"/>
              <a:buChar char="•"/>
            </a:pPr>
            <a:r>
              <a:rPr lang="en-US" sz="1900">
                <a:solidFill>
                  <a:srgbClr val="2F1B6D"/>
                </a:solidFill>
                <a:latin typeface="Raleway"/>
                <a:ea typeface="Raleway"/>
                <a:cs typeface="Raleway"/>
                <a:sym typeface="Raleway"/>
              </a:rPr>
              <a:t>Special marking and lighting</a:t>
            </a:r>
          </a:p>
          <a:p>
            <a:pPr marL="410389" lvl="1" indent="-205195" algn="l">
              <a:lnSpc>
                <a:spcPts val="2661"/>
              </a:lnSpc>
              <a:buFont typeface="Arial"/>
              <a:buChar char="•"/>
            </a:pPr>
            <a:r>
              <a:rPr lang="en-US" sz="1900">
                <a:solidFill>
                  <a:srgbClr val="2F1B6D"/>
                </a:solidFill>
                <a:latin typeface="Raleway"/>
                <a:ea typeface="Raleway"/>
                <a:cs typeface="Raleway"/>
                <a:sym typeface="Raleway"/>
              </a:rPr>
              <a:t>Reconstruction of the sidewalk with ramps and bike path as well as an aesthetic upgrade"</a:t>
            </a:r>
          </a:p>
          <a:p>
            <a:pPr marL="410389" lvl="1" indent="-205195" algn="l">
              <a:lnSpc>
                <a:spcPts val="2661"/>
              </a:lnSpc>
              <a:buFont typeface="Arial"/>
              <a:buChar char="•"/>
            </a:pPr>
            <a:r>
              <a:rPr lang="en-US" sz="1900">
                <a:solidFill>
                  <a:srgbClr val="2F1B6D"/>
                </a:solidFill>
                <a:latin typeface="Raleway"/>
                <a:ea typeface="Raleway"/>
                <a:cs typeface="Raleway"/>
                <a:sym typeface="Raleway"/>
              </a:rPr>
              <a:t>Stronger signalling</a:t>
            </a:r>
          </a:p>
          <a:p>
            <a:pPr marL="410389" lvl="1" indent="-205195" algn="l">
              <a:lnSpc>
                <a:spcPts val="2661"/>
              </a:lnSpc>
              <a:buFont typeface="Arial"/>
              <a:buChar char="•"/>
            </a:pPr>
            <a:r>
              <a:rPr lang="en-US" sz="1900">
                <a:solidFill>
                  <a:srgbClr val="2F1B6D"/>
                </a:solidFill>
                <a:latin typeface="Raleway"/>
                <a:ea typeface="Raleway"/>
                <a:cs typeface="Raleway"/>
                <a:sym typeface="Raleway"/>
              </a:rPr>
              <a:t> Staff to maintain it</a:t>
            </a:r>
          </a:p>
          <a:p>
            <a:pPr marL="410389" lvl="1" indent="-205195" algn="l">
              <a:lnSpc>
                <a:spcPts val="2661"/>
              </a:lnSpc>
              <a:buFont typeface="Arial"/>
              <a:buChar char="•"/>
            </a:pPr>
            <a:r>
              <a:rPr lang="en-US" sz="1900">
                <a:solidFill>
                  <a:srgbClr val="2F1B6D"/>
                </a:solidFill>
                <a:latin typeface="Raleway"/>
                <a:ea typeface="Raleway"/>
                <a:cs typeface="Raleway"/>
                <a:sym typeface="Raleway"/>
              </a:rPr>
              <a:t>Ramps, benches, greenery and trees because there is no shade at all and in the summer months we who live in the area and have to cross it to walk to the center suffer</a:t>
            </a:r>
          </a:p>
          <a:p>
            <a:pPr marL="410389" lvl="1" indent="-205195" algn="l">
              <a:lnSpc>
                <a:spcPts val="2661"/>
              </a:lnSpc>
              <a:buFont typeface="Arial"/>
              <a:buChar char="•"/>
            </a:pPr>
            <a:r>
              <a:rPr lang="en-US" sz="1900">
                <a:solidFill>
                  <a:srgbClr val="2F1B6D"/>
                </a:solidFill>
                <a:latin typeface="Raleway"/>
                <a:ea typeface="Raleway"/>
                <a:cs typeface="Raleway"/>
                <a:sym typeface="Raleway"/>
              </a:rPr>
              <a:t>Better lighting and elevated walkways</a:t>
            </a:r>
          </a:p>
          <a:p>
            <a:pPr marL="410389" lvl="1" indent="-205195" algn="l">
              <a:lnSpc>
                <a:spcPts val="2661"/>
              </a:lnSpc>
              <a:buFont typeface="Arial"/>
              <a:buChar char="•"/>
            </a:pPr>
            <a:r>
              <a:rPr lang="en-US" sz="1900">
                <a:solidFill>
                  <a:srgbClr val="2F1B6D"/>
                </a:solidFill>
                <a:latin typeface="Raleway"/>
                <a:ea typeface="Raleway"/>
                <a:cs typeface="Raleway"/>
                <a:sym typeface="Raleway"/>
              </a:rPr>
              <a:t>Lighting ramps reducing driver speed</a:t>
            </a:r>
          </a:p>
          <a:p>
            <a:pPr marL="410389" lvl="1" indent="-205195" algn="l">
              <a:lnSpc>
                <a:spcPts val="2661"/>
              </a:lnSpc>
              <a:buFont typeface="Arial"/>
              <a:buChar char="•"/>
            </a:pPr>
            <a:r>
              <a:rPr lang="en-US" sz="1900">
                <a:solidFill>
                  <a:srgbClr val="2F1B6D"/>
                </a:solidFill>
                <a:latin typeface="Raleway"/>
                <a:ea typeface="Raleway"/>
                <a:cs typeface="Raleway"/>
                <a:sym typeface="Raleway"/>
              </a:rPr>
              <a:t>Construction of a bike path, better lighting, separation of the sidewalk from the road, better policing of drivers who do not stop at crossings with very severe fines.</a:t>
            </a:r>
          </a:p>
          <a:p>
            <a:pPr algn="just">
              <a:lnSpc>
                <a:spcPts val="2661"/>
              </a:lnSpc>
              <a:spcBef>
                <a:spcPct val="0"/>
              </a:spcBef>
            </a:pPr>
            <a:endParaRPr lang="en-US" sz="1900">
              <a:solidFill>
                <a:srgbClr val="2F1B6D"/>
              </a:solidFill>
              <a:latin typeface="Raleway"/>
              <a:ea typeface="Raleway"/>
              <a:cs typeface="Raleway"/>
              <a:sym typeface="Raleway"/>
            </a:endParaRPr>
          </a:p>
        </p:txBody>
      </p:sp>
      <p:sp>
        <p:nvSpPr>
          <p:cNvPr id="14" name="TextBox 14"/>
          <p:cNvSpPr txBox="1"/>
          <p:nvPr/>
        </p:nvSpPr>
        <p:spPr>
          <a:xfrm>
            <a:off x="12331680" y="3348523"/>
            <a:ext cx="4630102" cy="6513314"/>
          </a:xfrm>
          <a:prstGeom prst="rect">
            <a:avLst/>
          </a:prstGeom>
        </p:spPr>
        <p:txBody>
          <a:bodyPr lIns="0" tIns="0" rIns="0" bIns="0" rtlCol="0" anchor="t">
            <a:spAutoFit/>
          </a:bodyPr>
          <a:lstStyle/>
          <a:p>
            <a:pPr algn="just">
              <a:lnSpc>
                <a:spcPts val="2723"/>
              </a:lnSpc>
            </a:pPr>
            <a:endParaRPr/>
          </a:p>
          <a:p>
            <a:pPr marL="419995" lvl="1" indent="-209997" algn="l">
              <a:lnSpc>
                <a:spcPts val="2723"/>
              </a:lnSpc>
              <a:buFont typeface="Arial"/>
              <a:buChar char="•"/>
            </a:pPr>
            <a:r>
              <a:rPr lang="en-US" sz="1945">
                <a:solidFill>
                  <a:srgbClr val="2F1B6D"/>
                </a:solidFill>
                <a:latin typeface="Raleway"/>
                <a:ea typeface="Raleway"/>
                <a:cs typeface="Raleway"/>
                <a:sym typeface="Raleway"/>
              </a:rPr>
              <a:t>The area where the school is located is a long straight where it is a residential area drivers develop high speeds there is no other crossing nearby many accidents all the time with bicycles the pavement is in very good condition but not for bicycles they do not provide any safety.</a:t>
            </a:r>
          </a:p>
          <a:p>
            <a:pPr marL="419995" lvl="1" indent="-209997" algn="l">
              <a:lnSpc>
                <a:spcPts val="2723"/>
              </a:lnSpc>
              <a:buFont typeface="Arial"/>
              <a:buChar char="•"/>
            </a:pPr>
            <a:r>
              <a:rPr lang="en-US" sz="1945">
                <a:solidFill>
                  <a:srgbClr val="2F1B6D"/>
                </a:solidFill>
                <a:latin typeface="Raleway"/>
                <a:ea typeface="Raleway"/>
                <a:cs typeface="Raleway"/>
                <a:sym typeface="Raleway"/>
              </a:rPr>
              <a:t>More lighting. Placing a traffic light along the road so that low speeds are achieved. </a:t>
            </a:r>
          </a:p>
          <a:p>
            <a:pPr marL="419995" lvl="1" indent="-209997" algn="l">
              <a:lnSpc>
                <a:spcPts val="2723"/>
              </a:lnSpc>
              <a:buFont typeface="Arial"/>
              <a:buChar char="•"/>
            </a:pPr>
            <a:r>
              <a:rPr lang="en-US" sz="1945">
                <a:solidFill>
                  <a:srgbClr val="2F1B6D"/>
                </a:solidFill>
                <a:latin typeface="Raleway"/>
                <a:ea typeface="Raleway"/>
                <a:cs typeface="Raleway"/>
                <a:sym typeface="Raleway"/>
              </a:rPr>
              <a:t>More recreation areas combined with the existing space.</a:t>
            </a:r>
          </a:p>
          <a:p>
            <a:pPr marL="419995" lvl="1" indent="-209997" algn="l">
              <a:lnSpc>
                <a:spcPts val="2723"/>
              </a:lnSpc>
              <a:buFont typeface="Arial"/>
              <a:buChar char="•"/>
            </a:pPr>
            <a:r>
              <a:rPr lang="en-US" sz="1945">
                <a:solidFill>
                  <a:srgbClr val="2F1B6D"/>
                </a:solidFill>
                <a:latin typeface="Raleway"/>
                <a:ea typeface="Raleway"/>
                <a:cs typeface="Raleway"/>
                <a:sym typeface="Raleway"/>
              </a:rPr>
              <a:t>Better crossing (with lights)</a:t>
            </a:r>
          </a:p>
          <a:p>
            <a:pPr marL="419995" lvl="1" indent="-209997" algn="l">
              <a:lnSpc>
                <a:spcPts val="2723"/>
              </a:lnSpc>
              <a:buFont typeface="Arial"/>
              <a:buChar char="•"/>
            </a:pPr>
            <a:r>
              <a:rPr lang="en-US" sz="1945">
                <a:solidFill>
                  <a:srgbClr val="2F1B6D"/>
                </a:solidFill>
                <a:latin typeface="Raleway"/>
                <a:ea typeface="Raleway"/>
                <a:cs typeface="Raleway"/>
                <a:sym typeface="Raleway"/>
              </a:rPr>
              <a:t>Ramps and other means of protecting citizens</a:t>
            </a:r>
          </a:p>
          <a:p>
            <a:pPr algn="just">
              <a:lnSpc>
                <a:spcPts val="2723"/>
              </a:lnSpc>
              <a:spcBef>
                <a:spcPct val="0"/>
              </a:spcBef>
            </a:pPr>
            <a:endParaRPr lang="en-US" sz="1945">
              <a:solidFill>
                <a:srgbClr val="2F1B6D"/>
              </a:solidFill>
              <a:latin typeface="Raleway"/>
              <a:ea typeface="Raleway"/>
              <a:cs typeface="Raleway"/>
              <a:sym typeface="Raleway"/>
            </a:endParaRPr>
          </a:p>
        </p:txBody>
      </p:sp>
      <p:sp>
        <p:nvSpPr>
          <p:cNvPr id="15" name="TextBox 15"/>
          <p:cNvSpPr txBox="1"/>
          <p:nvPr/>
        </p:nvSpPr>
        <p:spPr>
          <a:xfrm>
            <a:off x="909478" y="1229816"/>
            <a:ext cx="16645384" cy="433276"/>
          </a:xfrm>
          <a:prstGeom prst="rect">
            <a:avLst/>
          </a:prstGeom>
        </p:spPr>
        <p:txBody>
          <a:bodyPr lIns="0" tIns="0" rIns="0" bIns="0" rtlCol="0" anchor="t">
            <a:spAutoFit/>
          </a:bodyPr>
          <a:lstStyle/>
          <a:p>
            <a:pPr algn="l">
              <a:lnSpc>
                <a:spcPts val="3418"/>
              </a:lnSpc>
              <a:spcBef>
                <a:spcPct val="0"/>
              </a:spcBef>
            </a:pPr>
            <a:r>
              <a:rPr lang="en-US" sz="2441" b="1" spc="-112">
                <a:solidFill>
                  <a:srgbClr val="2F1B6D"/>
                </a:solidFill>
                <a:latin typeface="Raleway Medium"/>
                <a:ea typeface="Raleway Medium"/>
                <a:cs typeface="Raleway Medium"/>
                <a:sym typeface="Raleway Medium"/>
              </a:rPr>
              <a:t>The last 2 questions are open and encouraging the participants to suggest solutions. We are presenting the most popular ones </a:t>
            </a:r>
          </a:p>
        </p:txBody>
      </p:sp>
      <p:sp>
        <p:nvSpPr>
          <p:cNvPr id="16" name="TextBox 16"/>
          <p:cNvSpPr txBox="1"/>
          <p:nvPr/>
        </p:nvSpPr>
        <p:spPr>
          <a:xfrm>
            <a:off x="2284708" y="2111745"/>
            <a:ext cx="15270155" cy="879462"/>
          </a:xfrm>
          <a:prstGeom prst="rect">
            <a:avLst/>
          </a:prstGeom>
        </p:spPr>
        <p:txBody>
          <a:bodyPr lIns="0" tIns="0" rIns="0" bIns="0" rtlCol="0" anchor="t">
            <a:spAutoFit/>
          </a:bodyPr>
          <a:lstStyle/>
          <a:p>
            <a:pPr algn="l">
              <a:lnSpc>
                <a:spcPts val="3500"/>
              </a:lnSpc>
              <a:spcBef>
                <a:spcPct val="0"/>
              </a:spcBef>
            </a:pPr>
            <a:r>
              <a:rPr lang="en-US" sz="2500" b="1" spc="-115">
                <a:solidFill>
                  <a:srgbClr val="2F1B6D"/>
                </a:solidFill>
                <a:latin typeface="Raleway Medium"/>
                <a:ea typeface="Raleway Medium"/>
                <a:cs typeface="Raleway Medium"/>
                <a:sym typeface="Raleway Medium"/>
              </a:rPr>
              <a:t>How can the region be made more accessible and sustainable for all? (e.g. greenery, benches, meeting areas, ramps, better lighting, etc</a:t>
            </a:r>
          </a:p>
        </p:txBody>
      </p:sp>
      <p:sp>
        <p:nvSpPr>
          <p:cNvPr id="17" name="TextBox 17"/>
          <p:cNvSpPr txBox="1"/>
          <p:nvPr/>
        </p:nvSpPr>
        <p:spPr>
          <a:xfrm>
            <a:off x="530779" y="2146805"/>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15.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F6F1"/>
        </a:solidFill>
        <a:effectLst/>
      </p:bgPr>
    </p:bg>
    <p:spTree>
      <p:nvGrpSpPr>
        <p:cNvPr id="1" name=""/>
        <p:cNvGrpSpPr/>
        <p:nvPr/>
      </p:nvGrpSpPr>
      <p:grpSpPr>
        <a:xfrm>
          <a:off x="0" y="0"/>
          <a:ext cx="0" cy="0"/>
          <a:chOff x="0" y="0"/>
          <a:chExt cx="0" cy="0"/>
        </a:xfrm>
      </p:grpSpPr>
      <p:grpSp>
        <p:nvGrpSpPr>
          <p:cNvPr id="2" name="Group 2"/>
          <p:cNvGrpSpPr/>
          <p:nvPr/>
        </p:nvGrpSpPr>
        <p:grpSpPr>
          <a:xfrm>
            <a:off x="5969270" y="3396148"/>
            <a:ext cx="5293498" cy="6784303"/>
            <a:chOff x="0" y="0"/>
            <a:chExt cx="1394172" cy="1786812"/>
          </a:xfrm>
        </p:grpSpPr>
        <p:sp>
          <p:nvSpPr>
            <p:cNvPr id="3" name="Freeform 3"/>
            <p:cNvSpPr/>
            <p:nvPr/>
          </p:nvSpPr>
          <p:spPr>
            <a:xfrm>
              <a:off x="0" y="0"/>
              <a:ext cx="1394172" cy="1786812"/>
            </a:xfrm>
            <a:custGeom>
              <a:avLst/>
              <a:gdLst/>
              <a:ahLst/>
              <a:cxnLst/>
              <a:rect l="l" t="t" r="r" b="b"/>
              <a:pathLst>
                <a:path w="1394172" h="1786812">
                  <a:moveTo>
                    <a:pt x="11700" y="0"/>
                  </a:moveTo>
                  <a:lnTo>
                    <a:pt x="1382472" y="0"/>
                  </a:lnTo>
                  <a:cubicBezTo>
                    <a:pt x="1388934" y="0"/>
                    <a:pt x="1394172" y="5238"/>
                    <a:pt x="1394172" y="11700"/>
                  </a:cubicBezTo>
                  <a:lnTo>
                    <a:pt x="1394172" y="1775112"/>
                  </a:lnTo>
                  <a:cubicBezTo>
                    <a:pt x="1394172" y="1781574"/>
                    <a:pt x="1388934" y="1786812"/>
                    <a:pt x="1382472" y="1786812"/>
                  </a:cubicBezTo>
                  <a:lnTo>
                    <a:pt x="11700" y="1786812"/>
                  </a:lnTo>
                  <a:cubicBezTo>
                    <a:pt x="5238" y="1786812"/>
                    <a:pt x="0" y="1781574"/>
                    <a:pt x="0" y="1775112"/>
                  </a:cubicBezTo>
                  <a:lnTo>
                    <a:pt x="0" y="11700"/>
                  </a:lnTo>
                  <a:cubicBezTo>
                    <a:pt x="0" y="5238"/>
                    <a:pt x="5238" y="0"/>
                    <a:pt x="11700" y="0"/>
                  </a:cubicBezTo>
                  <a:close/>
                </a:path>
              </a:pathLst>
            </a:custGeom>
            <a:solidFill>
              <a:srgbClr val="96C2EF"/>
            </a:solidFill>
          </p:spPr>
        </p:sp>
        <p:sp>
          <p:nvSpPr>
            <p:cNvPr id="4" name="TextBox 4"/>
            <p:cNvSpPr txBox="1"/>
            <p:nvPr/>
          </p:nvSpPr>
          <p:spPr>
            <a:xfrm>
              <a:off x="0" y="-38100"/>
              <a:ext cx="1394172" cy="182491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85766" y="436321"/>
            <a:ext cx="7722430" cy="1337158"/>
          </a:xfrm>
          <a:prstGeom prst="rect">
            <a:avLst/>
          </a:prstGeom>
        </p:spPr>
        <p:txBody>
          <a:bodyPr lIns="0" tIns="0" rIns="0" bIns="0" rtlCol="0" anchor="t">
            <a:spAutoFit/>
          </a:bodyPr>
          <a:lstStyle/>
          <a:p>
            <a:pPr algn="ctr">
              <a:lnSpc>
                <a:spcPts val="5036"/>
              </a:lnSpc>
            </a:pPr>
            <a:r>
              <a:rPr lang="en-US" sz="5596" b="1" spc="-257">
                <a:solidFill>
                  <a:srgbClr val="2F1B6D"/>
                </a:solidFill>
                <a:latin typeface="Raleway Medium"/>
                <a:ea typeface="Raleway Medium"/>
                <a:cs typeface="Raleway Medium"/>
                <a:sym typeface="Raleway Medium"/>
              </a:rPr>
              <a:t>Evaluation Results</a:t>
            </a:r>
          </a:p>
          <a:p>
            <a:pPr marL="0" lvl="1" indent="0" algn="just">
              <a:lnSpc>
                <a:spcPts val="5036"/>
              </a:lnSpc>
            </a:pPr>
            <a:endParaRPr lang="en-US" sz="5596" b="1" spc="-257">
              <a:solidFill>
                <a:srgbClr val="2F1B6D"/>
              </a:solidFill>
              <a:latin typeface="Raleway Medium"/>
              <a:ea typeface="Raleway Medium"/>
              <a:cs typeface="Raleway Medium"/>
              <a:sym typeface="Raleway Medium"/>
            </a:endParaRPr>
          </a:p>
        </p:txBody>
      </p:sp>
      <p:grpSp>
        <p:nvGrpSpPr>
          <p:cNvPr id="6" name="Group 6"/>
          <p:cNvGrpSpPr/>
          <p:nvPr/>
        </p:nvGrpSpPr>
        <p:grpSpPr>
          <a:xfrm>
            <a:off x="429524" y="3396148"/>
            <a:ext cx="5293498" cy="6784303"/>
            <a:chOff x="0" y="0"/>
            <a:chExt cx="1394172" cy="1786812"/>
          </a:xfrm>
        </p:grpSpPr>
        <p:sp>
          <p:nvSpPr>
            <p:cNvPr id="7" name="Freeform 7"/>
            <p:cNvSpPr/>
            <p:nvPr/>
          </p:nvSpPr>
          <p:spPr>
            <a:xfrm>
              <a:off x="0" y="0"/>
              <a:ext cx="1394172" cy="1786812"/>
            </a:xfrm>
            <a:custGeom>
              <a:avLst/>
              <a:gdLst/>
              <a:ahLst/>
              <a:cxnLst/>
              <a:rect l="l" t="t" r="r" b="b"/>
              <a:pathLst>
                <a:path w="1394172" h="1786812">
                  <a:moveTo>
                    <a:pt x="11700" y="0"/>
                  </a:moveTo>
                  <a:lnTo>
                    <a:pt x="1382472" y="0"/>
                  </a:lnTo>
                  <a:cubicBezTo>
                    <a:pt x="1388934" y="0"/>
                    <a:pt x="1394172" y="5238"/>
                    <a:pt x="1394172" y="11700"/>
                  </a:cubicBezTo>
                  <a:lnTo>
                    <a:pt x="1394172" y="1775112"/>
                  </a:lnTo>
                  <a:cubicBezTo>
                    <a:pt x="1394172" y="1781574"/>
                    <a:pt x="1388934" y="1786812"/>
                    <a:pt x="1382472" y="1786812"/>
                  </a:cubicBezTo>
                  <a:lnTo>
                    <a:pt x="11700" y="1786812"/>
                  </a:lnTo>
                  <a:cubicBezTo>
                    <a:pt x="5238" y="1786812"/>
                    <a:pt x="0" y="1781574"/>
                    <a:pt x="0" y="1775112"/>
                  </a:cubicBezTo>
                  <a:lnTo>
                    <a:pt x="0" y="11700"/>
                  </a:lnTo>
                  <a:cubicBezTo>
                    <a:pt x="0" y="5238"/>
                    <a:pt x="5238" y="0"/>
                    <a:pt x="11700" y="0"/>
                  </a:cubicBezTo>
                  <a:close/>
                </a:path>
              </a:pathLst>
            </a:custGeom>
            <a:solidFill>
              <a:srgbClr val="96C2EF"/>
            </a:solidFill>
          </p:spPr>
        </p:sp>
        <p:sp>
          <p:nvSpPr>
            <p:cNvPr id="8" name="TextBox 8"/>
            <p:cNvSpPr txBox="1"/>
            <p:nvPr/>
          </p:nvSpPr>
          <p:spPr>
            <a:xfrm>
              <a:off x="0" y="-38100"/>
              <a:ext cx="1394172" cy="1824912"/>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1872368" y="3396148"/>
            <a:ext cx="5293498" cy="6784303"/>
            <a:chOff x="0" y="0"/>
            <a:chExt cx="1394172" cy="1786812"/>
          </a:xfrm>
        </p:grpSpPr>
        <p:sp>
          <p:nvSpPr>
            <p:cNvPr id="10" name="Freeform 10"/>
            <p:cNvSpPr/>
            <p:nvPr/>
          </p:nvSpPr>
          <p:spPr>
            <a:xfrm>
              <a:off x="0" y="0"/>
              <a:ext cx="1394172" cy="1786812"/>
            </a:xfrm>
            <a:custGeom>
              <a:avLst/>
              <a:gdLst/>
              <a:ahLst/>
              <a:cxnLst/>
              <a:rect l="l" t="t" r="r" b="b"/>
              <a:pathLst>
                <a:path w="1394172" h="1786812">
                  <a:moveTo>
                    <a:pt x="11700" y="0"/>
                  </a:moveTo>
                  <a:lnTo>
                    <a:pt x="1382472" y="0"/>
                  </a:lnTo>
                  <a:cubicBezTo>
                    <a:pt x="1388934" y="0"/>
                    <a:pt x="1394172" y="5238"/>
                    <a:pt x="1394172" y="11700"/>
                  </a:cubicBezTo>
                  <a:lnTo>
                    <a:pt x="1394172" y="1775112"/>
                  </a:lnTo>
                  <a:cubicBezTo>
                    <a:pt x="1394172" y="1781574"/>
                    <a:pt x="1388934" y="1786812"/>
                    <a:pt x="1382472" y="1786812"/>
                  </a:cubicBezTo>
                  <a:lnTo>
                    <a:pt x="11700" y="1786812"/>
                  </a:lnTo>
                  <a:cubicBezTo>
                    <a:pt x="5238" y="1786812"/>
                    <a:pt x="0" y="1781574"/>
                    <a:pt x="0" y="1775112"/>
                  </a:cubicBezTo>
                  <a:lnTo>
                    <a:pt x="0" y="11700"/>
                  </a:lnTo>
                  <a:cubicBezTo>
                    <a:pt x="0" y="5238"/>
                    <a:pt x="5238" y="0"/>
                    <a:pt x="11700" y="0"/>
                  </a:cubicBezTo>
                  <a:close/>
                </a:path>
              </a:pathLst>
            </a:custGeom>
            <a:solidFill>
              <a:srgbClr val="96C2EF"/>
            </a:solidFill>
          </p:spPr>
        </p:sp>
        <p:sp>
          <p:nvSpPr>
            <p:cNvPr id="11" name="TextBox 11"/>
            <p:cNvSpPr txBox="1"/>
            <p:nvPr/>
          </p:nvSpPr>
          <p:spPr>
            <a:xfrm>
              <a:off x="0" y="-38100"/>
              <a:ext cx="1394172" cy="1824912"/>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530779" y="3522035"/>
            <a:ext cx="5192243" cy="6403003"/>
          </a:xfrm>
          <a:prstGeom prst="rect">
            <a:avLst/>
          </a:prstGeom>
        </p:spPr>
        <p:txBody>
          <a:bodyPr lIns="0" tIns="0" rIns="0" bIns="0" rtlCol="0" anchor="t">
            <a:spAutoFit/>
          </a:bodyPr>
          <a:lstStyle/>
          <a:p>
            <a:pPr marL="396353" lvl="1" indent="-198176" algn="l">
              <a:lnSpc>
                <a:spcPts val="2570"/>
              </a:lnSpc>
              <a:buFont typeface="Arial"/>
              <a:buChar char="•"/>
            </a:pPr>
            <a:r>
              <a:rPr lang="en-US" sz="1835">
                <a:solidFill>
                  <a:srgbClr val="2F1B6D"/>
                </a:solidFill>
                <a:latin typeface="Raleway"/>
                <a:ea typeface="Raleway"/>
                <a:cs typeface="Raleway"/>
                <a:sym typeface="Raleway"/>
              </a:rPr>
              <a:t>Roadblocks to reduce the speed of cars</a:t>
            </a:r>
          </a:p>
          <a:p>
            <a:pPr marL="396353" lvl="1" indent="-198176" algn="l">
              <a:lnSpc>
                <a:spcPts val="2570"/>
              </a:lnSpc>
              <a:buFont typeface="Arial"/>
              <a:buChar char="•"/>
            </a:pPr>
            <a:r>
              <a:rPr lang="en-US" sz="1835">
                <a:solidFill>
                  <a:srgbClr val="2F1B6D"/>
                </a:solidFill>
                <a:latin typeface="Raleway"/>
                <a:ea typeface="Raleway"/>
                <a:cs typeface="Raleway"/>
                <a:sym typeface="Raleway"/>
              </a:rPr>
              <a:t>There should be better and more visible markings for the crossing</a:t>
            </a:r>
          </a:p>
          <a:p>
            <a:pPr marL="396353" lvl="1" indent="-198176" algn="l">
              <a:lnSpc>
                <a:spcPts val="2570"/>
              </a:lnSpc>
              <a:buFont typeface="Arial"/>
              <a:buChar char="•"/>
            </a:pPr>
            <a:r>
              <a:rPr lang="en-US" sz="1835">
                <a:solidFill>
                  <a:srgbClr val="2F1B6D"/>
                </a:solidFill>
                <a:latin typeface="Raleway"/>
                <a:ea typeface="Raleway"/>
                <a:cs typeface="Raleway"/>
                <a:sym typeface="Raleway"/>
              </a:rPr>
              <a:t>Traffic lights, traffic cameras, traffic controls and punishment for violating the crossing.</a:t>
            </a:r>
          </a:p>
          <a:p>
            <a:pPr marL="396353" lvl="1" indent="-198176" algn="l">
              <a:lnSpc>
                <a:spcPts val="2570"/>
              </a:lnSpc>
              <a:buFont typeface="Arial"/>
              <a:buChar char="•"/>
            </a:pPr>
            <a:r>
              <a:rPr lang="en-US" sz="1835">
                <a:solidFill>
                  <a:srgbClr val="2F1B6D"/>
                </a:solidFill>
                <a:latin typeface="Raleway"/>
                <a:ea typeface="Raleway"/>
                <a:cs typeface="Raleway"/>
                <a:sym typeface="Raleway"/>
              </a:rPr>
              <a:t> A pedestrian bridge should be built and the road should be shortened so that cars do not run too fast</a:t>
            </a:r>
          </a:p>
          <a:p>
            <a:pPr marL="396353" lvl="1" indent="-198176" algn="l">
              <a:lnSpc>
                <a:spcPts val="2570"/>
              </a:lnSpc>
              <a:buFont typeface="Arial"/>
              <a:buChar char="•"/>
            </a:pPr>
            <a:r>
              <a:rPr lang="en-US" sz="1835">
                <a:solidFill>
                  <a:srgbClr val="2F1B6D"/>
                </a:solidFill>
                <a:latin typeface="Raleway"/>
                <a:ea typeface="Raleway"/>
                <a:cs typeface="Raleway"/>
                <a:sym typeface="Raleway"/>
              </a:rPr>
              <a:t>Correct signage and lighting</a:t>
            </a:r>
          </a:p>
          <a:p>
            <a:pPr marL="396353" lvl="1" indent="-198176" algn="l">
              <a:lnSpc>
                <a:spcPts val="2570"/>
              </a:lnSpc>
              <a:buFont typeface="Arial"/>
              <a:buChar char="•"/>
            </a:pPr>
            <a:r>
              <a:rPr lang="en-US" sz="1835">
                <a:solidFill>
                  <a:srgbClr val="2F1B6D"/>
                </a:solidFill>
                <a:latin typeface="Raleway"/>
                <a:ea typeface="Raleway"/>
                <a:cs typeface="Raleway"/>
                <a:sym typeface="Raleway"/>
              </a:rPr>
              <a:t> pavement reconstruction with cycle path and correct information </a:t>
            </a:r>
          </a:p>
          <a:p>
            <a:pPr marL="396353" lvl="1" indent="-198176" algn="l">
              <a:lnSpc>
                <a:spcPts val="2570"/>
              </a:lnSpc>
              <a:buFont typeface="Arial"/>
              <a:buChar char="•"/>
            </a:pPr>
            <a:r>
              <a:rPr lang="en-US" sz="1835">
                <a:solidFill>
                  <a:srgbClr val="2F1B6D"/>
                </a:solidFill>
                <a:latin typeface="Raleway"/>
                <a:ea typeface="Raleway"/>
                <a:cs typeface="Raleway"/>
                <a:sym typeface="Raleway"/>
              </a:rPr>
              <a:t>Use of light signals on the crossing like the one in front of the post office</a:t>
            </a:r>
          </a:p>
          <a:p>
            <a:pPr marL="396353" lvl="1" indent="-198176" algn="l">
              <a:lnSpc>
                <a:spcPts val="2570"/>
              </a:lnSpc>
              <a:buFont typeface="Arial"/>
              <a:buChar char="•"/>
            </a:pPr>
            <a:r>
              <a:rPr lang="en-US" sz="1835">
                <a:solidFill>
                  <a:srgbClr val="2F1B6D"/>
                </a:solidFill>
                <a:latin typeface="Raleway"/>
                <a:ea typeface="Raleway"/>
                <a:cs typeface="Raleway"/>
                <a:sym typeface="Raleway"/>
              </a:rPr>
              <a:t>The crossing is good, Tsitsani street from the point where SMY starts in Farmaki to the Larissa delta creates a problem for those who come out of the vertical streets by car because the traffic is high and for pedestrians there is absolutely nothing to rest or relieve the heat in the summer </a:t>
            </a:r>
          </a:p>
        </p:txBody>
      </p:sp>
      <p:sp>
        <p:nvSpPr>
          <p:cNvPr id="13" name="TextBox 13"/>
          <p:cNvSpPr txBox="1"/>
          <p:nvPr/>
        </p:nvSpPr>
        <p:spPr>
          <a:xfrm>
            <a:off x="6227813" y="3512510"/>
            <a:ext cx="4920615" cy="7333594"/>
          </a:xfrm>
          <a:prstGeom prst="rect">
            <a:avLst/>
          </a:prstGeom>
        </p:spPr>
        <p:txBody>
          <a:bodyPr lIns="0" tIns="0" rIns="0" bIns="0" rtlCol="0" anchor="t">
            <a:spAutoFit/>
          </a:bodyPr>
          <a:lstStyle/>
          <a:p>
            <a:pPr marL="410389" lvl="1" indent="-205195" algn="l">
              <a:lnSpc>
                <a:spcPts val="2661"/>
              </a:lnSpc>
              <a:buFont typeface="Arial"/>
              <a:buChar char="•"/>
            </a:pPr>
            <a:r>
              <a:rPr lang="en-US" sz="1900">
                <a:solidFill>
                  <a:srgbClr val="2F1B6D"/>
                </a:solidFill>
                <a:latin typeface="Raleway"/>
                <a:ea typeface="Raleway"/>
                <a:cs typeface="Raleway"/>
                <a:sym typeface="Raleway"/>
              </a:rPr>
              <a:t>Better lighting overpass or traffic lights</a:t>
            </a:r>
          </a:p>
          <a:p>
            <a:pPr marL="410389" lvl="1" indent="-205195" algn="l">
              <a:lnSpc>
                <a:spcPts val="2661"/>
              </a:lnSpc>
              <a:buFont typeface="Arial"/>
              <a:buChar char="•"/>
            </a:pPr>
            <a:r>
              <a:rPr lang="en-US" sz="1900">
                <a:solidFill>
                  <a:srgbClr val="2F1B6D"/>
                </a:solidFill>
                <a:latin typeface="Raleway"/>
                <a:ea typeface="Raleway"/>
                <a:cs typeface="Raleway"/>
                <a:sym typeface="Raleway"/>
              </a:rPr>
              <a:t>Make an underground passage</a:t>
            </a:r>
          </a:p>
          <a:p>
            <a:pPr marL="410389" lvl="1" indent="-205195" algn="l">
              <a:lnSpc>
                <a:spcPts val="2661"/>
              </a:lnSpc>
              <a:buFont typeface="Arial"/>
              <a:buChar char="•"/>
            </a:pPr>
            <a:r>
              <a:rPr lang="en-US" sz="1900">
                <a:solidFill>
                  <a:srgbClr val="2F1B6D"/>
                </a:solidFill>
                <a:latin typeface="Raleway"/>
                <a:ea typeface="Raleway"/>
                <a:cs typeface="Raleway"/>
                <a:sym typeface="Raleway"/>
              </a:rPr>
              <a:t>Overpass</a:t>
            </a:r>
          </a:p>
          <a:p>
            <a:pPr marL="410389" lvl="1" indent="-205195" algn="l">
              <a:lnSpc>
                <a:spcPts val="2661"/>
              </a:lnSpc>
              <a:buFont typeface="Arial"/>
              <a:buChar char="•"/>
            </a:pPr>
            <a:r>
              <a:rPr lang="en-US" sz="1900">
                <a:solidFill>
                  <a:srgbClr val="2F1B6D"/>
                </a:solidFill>
                <a:latin typeface="Raleway"/>
                <a:ea typeface="Raleway"/>
                <a:cs typeface="Raleway"/>
                <a:sym typeface="Raleway"/>
              </a:rPr>
              <a:t>Low speed limit on the whole road and lighting</a:t>
            </a:r>
          </a:p>
          <a:p>
            <a:pPr marL="410389" lvl="1" indent="-205195" algn="l">
              <a:lnSpc>
                <a:spcPts val="2661"/>
              </a:lnSpc>
              <a:buFont typeface="Arial"/>
              <a:buChar char="•"/>
            </a:pPr>
            <a:r>
              <a:rPr lang="en-US" sz="1900">
                <a:solidFill>
                  <a:srgbClr val="2F1B6D"/>
                </a:solidFill>
                <a:latin typeface="Raleway"/>
                <a:ea typeface="Raleway"/>
                <a:cs typeface="Raleway"/>
                <a:sym typeface="Raleway"/>
              </a:rPr>
              <a:t>Signaling</a:t>
            </a:r>
          </a:p>
          <a:p>
            <a:pPr marL="410389" lvl="1" indent="-205195" algn="l">
              <a:lnSpc>
                <a:spcPts val="2661"/>
              </a:lnSpc>
              <a:buFont typeface="Arial"/>
              <a:buChar char="•"/>
            </a:pPr>
            <a:r>
              <a:rPr lang="en-US" sz="1900">
                <a:solidFill>
                  <a:srgbClr val="2F1B6D"/>
                </a:solidFill>
                <a:latin typeface="Raleway"/>
                <a:ea typeface="Raleway"/>
                <a:cs typeface="Raleway"/>
                <a:sym typeface="Raleway"/>
              </a:rPr>
              <a:t>It must always be painted and visible</a:t>
            </a:r>
          </a:p>
          <a:p>
            <a:pPr marL="410389" lvl="1" indent="-205195" algn="l">
              <a:lnSpc>
                <a:spcPts val="2661"/>
              </a:lnSpc>
              <a:buFont typeface="Arial"/>
              <a:buChar char="•"/>
            </a:pPr>
            <a:r>
              <a:rPr lang="en-US" sz="1900">
                <a:solidFill>
                  <a:srgbClr val="2F1B6D"/>
                </a:solidFill>
                <a:latin typeface="Raleway"/>
                <a:ea typeface="Raleway"/>
                <a:cs typeface="Raleway"/>
                <a:sym typeface="Raleway"/>
              </a:rPr>
              <a:t>There should be traffic lights so that someone does not have to wait for hours to cross the street by car or on foot.</a:t>
            </a:r>
          </a:p>
          <a:p>
            <a:pPr marL="410389" lvl="1" indent="-205195" algn="l">
              <a:lnSpc>
                <a:spcPts val="2661"/>
              </a:lnSpc>
              <a:buFont typeface="Arial"/>
              <a:buChar char="•"/>
            </a:pPr>
            <a:r>
              <a:rPr lang="en-US" sz="1900">
                <a:solidFill>
                  <a:srgbClr val="2F1B6D"/>
                </a:solidFill>
                <a:latin typeface="Raleway"/>
                <a:ea typeface="Raleway"/>
                <a:cs typeface="Raleway"/>
                <a:sym typeface="Raleway"/>
              </a:rPr>
              <a:t>Ramps and crosswalks that glow or light up</a:t>
            </a:r>
          </a:p>
          <a:p>
            <a:pPr marL="410389" lvl="1" indent="-205195" algn="l">
              <a:lnSpc>
                <a:spcPts val="2661"/>
              </a:lnSpc>
              <a:buFont typeface="Arial"/>
              <a:buChar char="•"/>
            </a:pPr>
            <a:r>
              <a:rPr lang="en-US" sz="1900">
                <a:solidFill>
                  <a:srgbClr val="2F1B6D"/>
                </a:solidFill>
                <a:latin typeface="Raleway"/>
                <a:ea typeface="Raleway"/>
                <a:cs typeface="Raleway"/>
                <a:sym typeface="Raleway"/>
              </a:rPr>
              <a:t>Maintenance, marking</a:t>
            </a:r>
          </a:p>
          <a:p>
            <a:pPr marL="410389" lvl="1" indent="-205195" algn="l">
              <a:lnSpc>
                <a:spcPts val="2661"/>
              </a:lnSpc>
              <a:buFont typeface="Arial"/>
              <a:buChar char="•"/>
            </a:pPr>
            <a:r>
              <a:rPr lang="en-US" sz="1900">
                <a:solidFill>
                  <a:srgbClr val="2F1B6D"/>
                </a:solidFill>
                <a:latin typeface="Raleway"/>
                <a:ea typeface="Raleway"/>
                <a:cs typeface="Raleway"/>
                <a:sym typeface="Raleway"/>
              </a:rPr>
              <a:t>car speed limit</a:t>
            </a:r>
          </a:p>
          <a:p>
            <a:pPr marL="410389" lvl="1" indent="-205195" algn="l">
              <a:lnSpc>
                <a:spcPts val="2661"/>
              </a:lnSpc>
              <a:buFont typeface="Arial"/>
              <a:buChar char="•"/>
            </a:pPr>
            <a:r>
              <a:rPr lang="en-US" sz="1900">
                <a:solidFill>
                  <a:srgbClr val="2F1B6D"/>
                </a:solidFill>
                <a:latin typeface="Raleway"/>
                <a:ea typeface="Raleway"/>
                <a:cs typeface="Raleway"/>
                <a:sym typeface="Raleway"/>
              </a:rPr>
              <a:t>Finally road education and policing without tips and friendly pats on the back.</a:t>
            </a:r>
          </a:p>
          <a:p>
            <a:pPr marL="410389" lvl="1" indent="-205195" algn="l">
              <a:lnSpc>
                <a:spcPts val="2661"/>
              </a:lnSpc>
              <a:buFont typeface="Arial"/>
              <a:buChar char="•"/>
            </a:pPr>
            <a:r>
              <a:rPr lang="en-US" sz="1900">
                <a:solidFill>
                  <a:srgbClr val="2F1B6D"/>
                </a:solidFill>
                <a:latin typeface="Raleway"/>
                <a:ea typeface="Raleway"/>
                <a:cs typeface="Raleway"/>
                <a:sym typeface="Raleway"/>
              </a:rPr>
              <a:t>A beacon when someone needs to use it</a:t>
            </a:r>
          </a:p>
          <a:p>
            <a:pPr algn="l">
              <a:lnSpc>
                <a:spcPts val="2661"/>
              </a:lnSpc>
            </a:pPr>
            <a:endParaRPr lang="en-US" sz="1900">
              <a:solidFill>
                <a:srgbClr val="2F1B6D"/>
              </a:solidFill>
              <a:latin typeface="Raleway"/>
              <a:ea typeface="Raleway"/>
              <a:cs typeface="Raleway"/>
              <a:sym typeface="Raleway"/>
            </a:endParaRPr>
          </a:p>
          <a:p>
            <a:pPr algn="just">
              <a:lnSpc>
                <a:spcPts val="2661"/>
              </a:lnSpc>
              <a:spcBef>
                <a:spcPct val="0"/>
              </a:spcBef>
            </a:pPr>
            <a:endParaRPr lang="en-US" sz="1900">
              <a:solidFill>
                <a:srgbClr val="2F1B6D"/>
              </a:solidFill>
              <a:latin typeface="Raleway"/>
              <a:ea typeface="Raleway"/>
              <a:cs typeface="Raleway"/>
              <a:sym typeface="Raleway"/>
            </a:endParaRPr>
          </a:p>
        </p:txBody>
      </p:sp>
      <p:sp>
        <p:nvSpPr>
          <p:cNvPr id="14" name="TextBox 14"/>
          <p:cNvSpPr txBox="1"/>
          <p:nvPr/>
        </p:nvSpPr>
        <p:spPr>
          <a:xfrm>
            <a:off x="11871529" y="3164930"/>
            <a:ext cx="5294337" cy="7199114"/>
          </a:xfrm>
          <a:prstGeom prst="rect">
            <a:avLst/>
          </a:prstGeom>
        </p:spPr>
        <p:txBody>
          <a:bodyPr lIns="0" tIns="0" rIns="0" bIns="0" rtlCol="0" anchor="t">
            <a:spAutoFit/>
          </a:bodyPr>
          <a:lstStyle/>
          <a:p>
            <a:pPr algn="just">
              <a:lnSpc>
                <a:spcPts val="2723"/>
              </a:lnSpc>
            </a:pPr>
            <a:endParaRPr/>
          </a:p>
          <a:p>
            <a:pPr marL="419995" lvl="1" indent="-209997" algn="l">
              <a:lnSpc>
                <a:spcPts val="2723"/>
              </a:lnSpc>
              <a:buFont typeface="Arial"/>
              <a:buChar char="•"/>
            </a:pPr>
            <a:r>
              <a:rPr lang="en-US" sz="1945">
                <a:solidFill>
                  <a:srgbClr val="2F1B6D"/>
                </a:solidFill>
                <a:latin typeface="Raleway"/>
                <a:ea typeface="Raleway"/>
                <a:cs typeface="Raleway"/>
                <a:sym typeface="Raleway"/>
              </a:rPr>
              <a:t>Signage placement as in the city center with flashing pavement markings</a:t>
            </a:r>
          </a:p>
          <a:p>
            <a:pPr marL="419995" lvl="1" indent="-209997" algn="l">
              <a:lnSpc>
                <a:spcPts val="2723"/>
              </a:lnSpc>
              <a:buFont typeface="Arial"/>
              <a:buChar char="•"/>
            </a:pPr>
            <a:r>
              <a:rPr lang="en-US" sz="1945">
                <a:solidFill>
                  <a:srgbClr val="2F1B6D"/>
                </a:solidFill>
                <a:latin typeface="Raleway"/>
                <a:ea typeface="Raleway"/>
                <a:cs typeface="Raleway"/>
                <a:sym typeface="Raleway"/>
              </a:rPr>
              <a:t>Only by signalling it, the pedestrians do not respect the drivers because they step on the crossing without checking, but neither do the drivers the pedestrians!</a:t>
            </a:r>
          </a:p>
          <a:p>
            <a:pPr marL="419995" lvl="1" indent="-209997" algn="l">
              <a:lnSpc>
                <a:spcPts val="2723"/>
              </a:lnSpc>
              <a:buFont typeface="Arial"/>
              <a:buChar char="•"/>
            </a:pPr>
            <a:r>
              <a:rPr lang="en-US" sz="1945">
                <a:solidFill>
                  <a:srgbClr val="2F1B6D"/>
                </a:solidFill>
                <a:latin typeface="Raleway"/>
                <a:ea typeface="Raleway"/>
                <a:cs typeface="Raleway"/>
                <a:sym typeface="Raleway"/>
              </a:rPr>
              <a:t>Recording of faults and immediate restoration</a:t>
            </a:r>
          </a:p>
          <a:p>
            <a:pPr marL="419995" lvl="1" indent="-209997" algn="l">
              <a:lnSpc>
                <a:spcPts val="2723"/>
              </a:lnSpc>
              <a:buFont typeface="Arial"/>
              <a:buChar char="•"/>
            </a:pPr>
            <a:r>
              <a:rPr lang="en-US" sz="1945">
                <a:solidFill>
                  <a:srgbClr val="2F1B6D"/>
                </a:solidFill>
                <a:latin typeface="Raleway"/>
                <a:ea typeface="Raleway"/>
                <a:cs typeface="Raleway"/>
                <a:sym typeface="Raleway"/>
              </a:rPr>
              <a:t>painting the passage- or stone or tile colored instead of painting</a:t>
            </a:r>
          </a:p>
          <a:p>
            <a:pPr marL="419995" lvl="1" indent="-209997" algn="l">
              <a:lnSpc>
                <a:spcPts val="2723"/>
              </a:lnSpc>
              <a:buFont typeface="Arial"/>
              <a:buChar char="•"/>
            </a:pPr>
            <a:r>
              <a:rPr lang="en-US" sz="1945">
                <a:solidFill>
                  <a:srgbClr val="2F1B6D"/>
                </a:solidFill>
                <a:latin typeface="Raleway"/>
                <a:ea typeface="Raleway"/>
                <a:cs typeface="Raleway"/>
                <a:sym typeface="Raleway"/>
              </a:rPr>
              <a:t>Placing small obstacles (samarakia) perpendicular to the road to reduce speed.</a:t>
            </a:r>
          </a:p>
          <a:p>
            <a:pPr marL="419995" lvl="1" indent="-209997" algn="l">
              <a:lnSpc>
                <a:spcPts val="2723"/>
              </a:lnSpc>
              <a:buFont typeface="Arial"/>
              <a:buChar char="•"/>
            </a:pPr>
            <a:r>
              <a:rPr lang="en-US" sz="1945">
                <a:solidFill>
                  <a:srgbClr val="2F1B6D"/>
                </a:solidFill>
                <a:latin typeface="Raleway"/>
                <a:ea typeface="Raleway"/>
                <a:cs typeface="Raleway"/>
                <a:sym typeface="Raleway"/>
              </a:rPr>
              <a:t>To be uneven (elevated), with reflectors and lights.</a:t>
            </a:r>
          </a:p>
          <a:p>
            <a:pPr marL="419995" lvl="1" indent="-209997" algn="l">
              <a:lnSpc>
                <a:spcPts val="2723"/>
              </a:lnSpc>
              <a:buFont typeface="Arial"/>
              <a:buChar char="•"/>
            </a:pPr>
            <a:r>
              <a:rPr lang="en-US" sz="1945">
                <a:solidFill>
                  <a:srgbClr val="2F1B6D"/>
                </a:solidFill>
                <a:latin typeface="Raleway"/>
                <a:ea typeface="Raleway"/>
                <a:cs typeface="Raleway"/>
                <a:sym typeface="Raleway"/>
              </a:rPr>
              <a:t>Creating means for proper security like dams before and after the crossing to reduce vehicle speed. and overground or underpass."</a:t>
            </a:r>
          </a:p>
          <a:p>
            <a:pPr algn="just">
              <a:lnSpc>
                <a:spcPts val="2723"/>
              </a:lnSpc>
              <a:spcBef>
                <a:spcPct val="0"/>
              </a:spcBef>
            </a:pPr>
            <a:endParaRPr lang="en-US" sz="1945">
              <a:solidFill>
                <a:srgbClr val="2F1B6D"/>
              </a:solidFill>
              <a:latin typeface="Raleway"/>
              <a:ea typeface="Raleway"/>
              <a:cs typeface="Raleway"/>
              <a:sym typeface="Raleway"/>
            </a:endParaRPr>
          </a:p>
        </p:txBody>
      </p:sp>
      <p:sp>
        <p:nvSpPr>
          <p:cNvPr id="15" name="TextBox 15"/>
          <p:cNvSpPr txBox="1"/>
          <p:nvPr/>
        </p:nvSpPr>
        <p:spPr>
          <a:xfrm>
            <a:off x="909478" y="1229816"/>
            <a:ext cx="16645384" cy="433276"/>
          </a:xfrm>
          <a:prstGeom prst="rect">
            <a:avLst/>
          </a:prstGeom>
        </p:spPr>
        <p:txBody>
          <a:bodyPr lIns="0" tIns="0" rIns="0" bIns="0" rtlCol="0" anchor="t">
            <a:spAutoFit/>
          </a:bodyPr>
          <a:lstStyle/>
          <a:p>
            <a:pPr algn="l">
              <a:lnSpc>
                <a:spcPts val="3418"/>
              </a:lnSpc>
              <a:spcBef>
                <a:spcPct val="0"/>
              </a:spcBef>
            </a:pPr>
            <a:r>
              <a:rPr lang="en-US" sz="2441" b="1" spc="-112">
                <a:solidFill>
                  <a:srgbClr val="2F1B6D"/>
                </a:solidFill>
                <a:latin typeface="Raleway Medium"/>
                <a:ea typeface="Raleway Medium"/>
                <a:cs typeface="Raleway Medium"/>
                <a:sym typeface="Raleway Medium"/>
              </a:rPr>
              <a:t>The last 2 questions are open and encouraging the participants to suggest solutions. We are presenting the most popular ones </a:t>
            </a:r>
          </a:p>
        </p:txBody>
      </p:sp>
      <p:sp>
        <p:nvSpPr>
          <p:cNvPr id="16" name="TextBox 16"/>
          <p:cNvSpPr txBox="1"/>
          <p:nvPr/>
        </p:nvSpPr>
        <p:spPr>
          <a:xfrm>
            <a:off x="2284708" y="2239023"/>
            <a:ext cx="15270155" cy="441312"/>
          </a:xfrm>
          <a:prstGeom prst="rect">
            <a:avLst/>
          </a:prstGeom>
        </p:spPr>
        <p:txBody>
          <a:bodyPr lIns="0" tIns="0" rIns="0" bIns="0" rtlCol="0" anchor="t">
            <a:spAutoFit/>
          </a:bodyPr>
          <a:lstStyle/>
          <a:p>
            <a:pPr algn="l">
              <a:lnSpc>
                <a:spcPts val="3500"/>
              </a:lnSpc>
              <a:spcBef>
                <a:spcPct val="0"/>
              </a:spcBef>
            </a:pPr>
            <a:r>
              <a:rPr lang="en-US" sz="2500" b="1" spc="-115">
                <a:solidFill>
                  <a:srgbClr val="2F1B6D"/>
                </a:solidFill>
                <a:latin typeface="Raleway Medium"/>
                <a:ea typeface="Raleway Medium"/>
                <a:cs typeface="Raleway Medium"/>
                <a:sym typeface="Raleway Medium"/>
              </a:rPr>
              <a:t>What are your suggestions for improving the crossing safety?</a:t>
            </a:r>
          </a:p>
        </p:txBody>
      </p:sp>
      <p:sp>
        <p:nvSpPr>
          <p:cNvPr id="17" name="TextBox 17"/>
          <p:cNvSpPr txBox="1"/>
          <p:nvPr/>
        </p:nvSpPr>
        <p:spPr>
          <a:xfrm>
            <a:off x="530779" y="2146805"/>
            <a:ext cx="1676876" cy="1249343"/>
          </a:xfrm>
          <a:prstGeom prst="rect">
            <a:avLst/>
          </a:prstGeom>
        </p:spPr>
        <p:txBody>
          <a:bodyPr lIns="0" tIns="0" rIns="0" bIns="0" rtlCol="0" anchor="t">
            <a:spAutoFit/>
          </a:bodyPr>
          <a:lstStyle/>
          <a:p>
            <a:pPr marL="0" lvl="1" indent="0" algn="l">
              <a:lnSpc>
                <a:spcPts val="9037"/>
              </a:lnSpc>
            </a:pPr>
            <a:r>
              <a:rPr lang="en-US" sz="10041" b="1" spc="-461">
                <a:solidFill>
                  <a:srgbClr val="2F1B6D"/>
                </a:solidFill>
                <a:latin typeface="Raleway Medium"/>
                <a:ea typeface="Raleway Medium"/>
                <a:cs typeface="Raleway Medium"/>
                <a:sym typeface="Raleway Medium"/>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D1D32892E1C0340AACC37D54912D20B" ma:contentTypeVersion="17" ma:contentTypeDescription="Create a new document." ma:contentTypeScope="" ma:versionID="978fdc382bd38edd2a46f1a033a11ee0">
  <xsd:schema xmlns:xsd="http://www.w3.org/2001/XMLSchema" xmlns:xs="http://www.w3.org/2001/XMLSchema" xmlns:p="http://schemas.microsoft.com/office/2006/metadata/properties" xmlns:ns2="32c973f7-fd22-440a-9834-698af4802ce7" xmlns:ns3="5ece6d21-fa13-42c6-bd15-cbeaaae860c8" targetNamespace="http://schemas.microsoft.com/office/2006/metadata/properties" ma:root="true" ma:fieldsID="b4ebe7e8df555ae6b0eb89c416c0bc0e" ns2:_="" ns3:_="">
    <xsd:import namespace="32c973f7-fd22-440a-9834-698af4802ce7"/>
    <xsd:import namespace="5ece6d21-fa13-42c6-bd15-cbeaaae860c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Location" minOccurs="0"/>
                <xsd:element ref="ns2:MediaServiceSearchProperties" minOccurs="0"/>
                <xsd:element ref="ns2:_Flow_SignoffStatu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c973f7-fd22-440a-9834-698af4802c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bf481b40-f286-4908-848d-74455da6f2b9"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_Flow_SignoffStatus" ma:index="23" nillable="true" ma:displayName="Sign-off status" ma:internalName="Sign_x002d_off_x0020_status">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ce6d21-fa13-42c6-bd15-cbeaaae860c8"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b1c31dde-15b0-4e85-91a0-d50ad24f8c95}" ma:internalName="TaxCatchAll" ma:showField="CatchAllData" ma:web="5ece6d21-fa13-42c6-bd15-cbeaaae860c8">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Flow_SignoffStatus xmlns="32c973f7-fd22-440a-9834-698af4802ce7" xsi:nil="true"/>
    <TaxCatchAll xmlns="5ece6d21-fa13-42c6-bd15-cbeaaae860c8" xsi:nil="true"/>
    <lcf76f155ced4ddcb4097134ff3c332f xmlns="32c973f7-fd22-440a-9834-698af4802ce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E375698-D3C0-4267-9723-44D4CDC5F06A}"/>
</file>

<file path=customXml/itemProps2.xml><?xml version="1.0" encoding="utf-8"?>
<ds:datastoreItem xmlns:ds="http://schemas.openxmlformats.org/officeDocument/2006/customXml" ds:itemID="{A73F6827-760A-4AED-ABB0-C28EAFDDBA5C}"/>
</file>

<file path=customXml/itemProps3.xml><?xml version="1.0" encoding="utf-8"?>
<ds:datastoreItem xmlns:ds="http://schemas.openxmlformats.org/officeDocument/2006/customXml" ds:itemID="{2A186534-85FC-4438-81F4-97F4033EB062}"/>
</file>

<file path=docProps/app.xml><?xml version="1.0" encoding="utf-8"?>
<Properties xmlns="http://schemas.openxmlformats.org/officeDocument/2006/extended-properties" xmlns:vt="http://schemas.openxmlformats.org/officeDocument/2006/docPropsVTypes">
  <TotalTime>0</TotalTime>
  <Words>1416</Words>
  <Application>Microsoft Office PowerPoint</Application>
  <PresentationFormat>Custom</PresentationFormat>
  <Paragraphs>136</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Calibri</vt:lpstr>
      <vt:lpstr>Raleway Semi-Bold</vt:lpstr>
      <vt:lpstr>Raleway</vt:lpstr>
      <vt:lpstr>Arial</vt:lpstr>
      <vt:lpstr>Raleway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ELABORATOR _Baseline data_smart crossing</dc:title>
  <cp:lastModifiedBy>Christina</cp:lastModifiedBy>
  <cp:revision>2</cp:revision>
  <dcterms:created xsi:type="dcterms:W3CDTF">2006-08-16T00:00:00Z</dcterms:created>
  <dcterms:modified xsi:type="dcterms:W3CDTF">2024-11-06T10:04:10Z</dcterms:modified>
  <dc:identifier>DAGVguCL-7U</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0x010100DD1D32892E1C0340AACC37D54912D20B</vt:lpwstr>
  </property>
</Properties>
</file>